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Andrea Bellucci"/>
  <p:cmAuthor clrIdx="1" id="1" initials="" lastIdx="1" name="Sergei Smirnov"/>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A3FF2A-5C85-4FD9-97C3-64C6DA65FC6C}">
  <a:tblStyle styleId="{41A3FF2A-5C85-4FD9-97C3-64C6DA65FC6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28T09:08:21.897">
    <p:pos x="196" y="725"/>
    <p:text>I believe it would be nice to have also a verbalized confidence. it could be that the explanation disagree with the logits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9-28T10:55:54.083">
    <p:pos x="196" y="725"/>
    <p:text>Does the annotated cue fall within the sampled frames?</p:text>
  </p:cm>
  <p:cm authorId="1" idx="1" dt="2026-09-28T10:55:54.083">
    <p:pos x="196" y="725"/>
    <p:text>yes
frames are sampled from the targeted part of the video that was given to the annotators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9-28T09:25:13.674">
    <p:pos x="175" y="725"/>
    <p:text>What do you mean? significant as in "statistically significant"? 
This could be very informative to me, because if you analyze the 35 broken answers you could for example find that some type of evidence that humans deemed necessary misleads the model</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9-28T09:27:15.052">
    <p:pos x="196" y="725"/>
    <p:text>My main question is: how do we know that the models read the correct social cue from the video and the increased confidence is not just an artifact of having a video?
I suggest testing with mismatching videos, or blurring faces for example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293965243a4805b5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h293965243a4805b5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b48f9b33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b48f9b33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81d23ca9deb682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81d23ca9deb682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81d23ca9deb682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h81d23ca9deb682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h293965243a4805b5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h293965243a4805b5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h2b48c6cd53c2d6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h2b48c6cd53c2d6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h293965243a4805b5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h293965243a4805b5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h293965243a4805b5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h293965243a4805b5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h293965243a4805b5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h293965243a4805b5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293965243a4805b5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h293965243a4805b5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293965243a4805b5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h293965243a4805b5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293965243a4805b5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h293965243a4805b5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h293965243a4805b5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h293965243a4805b5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h293965243a4805b5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h293965243a4805b5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293965243a4805b5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h293965243a4805b5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h293965243a4805b5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h293965243a4805b5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293965243a4805b5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h293965243a4805b5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293965243a4805b5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h293965243a4805b5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h293965243a4805b5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h293965243a4805b5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h293965243a4805b5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h293965243a4805b5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293965243a4805b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h293965243a4805b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h293965243a4805b5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h293965243a4805b5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h293965243a4805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h293965243a4805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70919aa4954b26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h70919aa4954b26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h70919aa4954b266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h70919aa4954b266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h70919aa4954b266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h70919aa4954b266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h70919aa4954b266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h70919aa4954b266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70919aa4954b266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h70919aa4954b266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h70919aa4954b266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h70919aa4954b266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h70919aa4954b266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h70919aa4954b266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h70919aa4954b2661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h70919aa4954b266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h70919aa4954b2661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h70919aa4954b2661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h70919aa4954b266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h70919aa4954b266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h70919aa4954b2661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h70919aa4954b2661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h657ce4966f80226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h657ce4966f80226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fb48f9b33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fb48f9b33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b48f9b33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fb48f9b33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fb48f9b33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fb48f9b33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f8d613002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f8d613002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fb48f9b33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fb48f9b33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f8d613002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f8d613002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f8d613002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f8d613002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f8d613002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f8d613002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f8d613002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f8d613002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f8d613002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f8d613002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f8d613002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f8d613002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fb48f9b3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fb48f9b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8d613002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f8d613002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github.com/seriozh1/ai-alignment-demands-emotions/tree/main" TargetMode="External"/><Relationship Id="rId4" Type="http://schemas.openxmlformats.org/officeDocument/2006/relationships/hyperlink" Target="https://github.com/seriozh1/ai-alignment-demands-emotions/blob/main/outputs/2026-10-04_abstain_mismatch_explain/explanations.csv"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my.csc.fi/welcom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www.computer.org/csdl/journal/ta"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comments" Target="../comments/commen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comments" Target="../comments/commen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comments" Target="../comments/comment3.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comments" Target="../comments/comment4.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my.csc.fi/welcome"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hyperlink" Target="https://claude.ai/labs-verification/attestation" TargetMode="External"/><Relationship Id="rId4" Type="http://schemas.openxmlformats.org/officeDocument/2006/relationships/hyperlink" Target="https://claude.com/programs/team-plan-for-scientists#pricing"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Paper structure discussion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05.10.2026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the study relate to the paper</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GB">
                <a:solidFill>
                  <a:schemeClr val="dk1"/>
                </a:solidFill>
              </a:rPr>
              <a:t>We articulate four principles for assessing the limits of AI emotional understanding and use a focused review to examine how existing evaluations address them. We then illustrate epistemic humility through a controlled study of emotional inference under varying evidence conditions. We select this principle because recognising and communicating evidential limits is relevant across the other three: judgments about stakes, situated experience and personal meaning may all exceed the information available to a system. The study demonstrates how this principle can inform evaluation; it does not constitute an empirical validation of the four-principle framework.</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No good dataset to test directly our hypothesis based on our reviews. We are not </a:t>
            </a:r>
            <a:r>
              <a:rPr lang="en-GB">
                <a:solidFill>
                  <a:schemeClr val="dk1"/>
                </a:solidFill>
              </a:rPr>
              <a:t>equipped</a:t>
            </a:r>
            <a:r>
              <a:rPr lang="en-GB">
                <a:solidFill>
                  <a:schemeClr val="dk1"/>
                </a:solidFill>
              </a:rPr>
              <a:t> with dataset to discuss the problem.</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to close the paper?</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GB" sz="1100">
                <a:solidFill>
                  <a:schemeClr val="dk1"/>
                </a:solidFill>
              </a:rPr>
              <a:t>After the example, return to all four principles and develop a research agenda. The example should give that agenda substance: it shows how evaluating a principle can reveal limitations that answer accuracy misses.</a:t>
            </a:r>
            <a:endParaRPr sz="1100">
              <a:solidFill>
                <a:schemeClr val="dk1"/>
              </a:solidFill>
            </a:endParaRPr>
          </a:p>
          <a:p>
            <a:pPr indent="0" lvl="0" marL="0" rtl="0" algn="l">
              <a:spcBef>
                <a:spcPts val="1200"/>
              </a:spcBef>
              <a:spcAft>
                <a:spcPts val="0"/>
              </a:spcAft>
              <a:buNone/>
            </a:pPr>
            <a:r>
              <a:rPr lang="en-GB" sz="1100">
                <a:solidFill>
                  <a:schemeClr val="dk1"/>
                </a:solidFill>
              </a:rPr>
              <a:t>1. Explain what the example teaches.</a:t>
            </a:r>
            <a:br>
              <a:rPr b="1" lang="en-GB" sz="1100">
                <a:solidFill>
                  <a:schemeClr val="dk1"/>
                </a:solidFill>
              </a:rPr>
            </a:br>
            <a:r>
              <a:rPr lang="en-GB" sz="1100">
                <a:solidFill>
                  <a:schemeClr val="dk1"/>
                </a:solidFill>
              </a:rPr>
              <a:t>Evidence-sensitive abstention and accurate explanations can come apart. This illustrates why emotional understanding needs evaluation at several levels: the judgment, its evidential basis, and how the system communicates its limits.</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2</a:t>
            </a:r>
            <a:r>
              <a:rPr lang="en-GB" sz="1100">
                <a:solidFill>
                  <a:schemeClr val="dk1"/>
                </a:solidFill>
              </a:rPr>
              <a:t>. Research agenda </a:t>
            </a:r>
            <a:endParaRPr sz="1100">
              <a:solidFill>
                <a:schemeClr val="dk1"/>
              </a:solidFill>
            </a:endParaRPr>
          </a:p>
          <a:p>
            <a:pPr indent="0" lvl="0" marL="0" rtl="0" algn="l">
              <a:spcBef>
                <a:spcPts val="1200"/>
              </a:spcBef>
              <a:spcAft>
                <a:spcPts val="1200"/>
              </a:spcAft>
              <a:buNone/>
            </a:pPr>
            <a:r>
              <a:t/>
            </a:r>
            <a:endParaRPr/>
          </a:p>
        </p:txBody>
      </p:sp>
      <p:graphicFrame>
        <p:nvGraphicFramePr>
          <p:cNvPr id="68" name="Google Shape;68;p15"/>
          <p:cNvGraphicFramePr/>
          <p:nvPr/>
        </p:nvGraphicFramePr>
        <p:xfrm>
          <a:off x="2388875" y="2340175"/>
          <a:ext cx="3000000" cy="3000000"/>
        </p:xfrm>
        <a:graphic>
          <a:graphicData uri="http://schemas.openxmlformats.org/drawingml/2006/table">
            <a:tbl>
              <a:tblPr>
                <a:noFill/>
                <a:tableStyleId>{41A3FF2A-5C85-4FD9-97C3-64C6DA65FC6C}</a:tableStyleId>
              </a:tblPr>
              <a:tblGrid>
                <a:gridCol w="1452650"/>
                <a:gridCol w="2240125"/>
                <a:gridCol w="2750650"/>
              </a:tblGrid>
              <a:tr h="190500">
                <a:tc>
                  <a:txBody>
                    <a:bodyPr/>
                    <a:lstStyle/>
                    <a:p>
                      <a:pPr indent="0" lvl="0" marL="0" rtl="0" algn="ctr">
                        <a:lnSpc>
                          <a:spcPct val="115000"/>
                        </a:lnSpc>
                        <a:spcBef>
                          <a:spcPts val="0"/>
                        </a:spcBef>
                        <a:spcAft>
                          <a:spcPts val="0"/>
                        </a:spcAft>
                        <a:buNone/>
                      </a:pPr>
                      <a:r>
                        <a:rPr b="1" lang="en-GB" sz="900"/>
                        <a:t>Principle</a:t>
                      </a:r>
                      <a:endParaRPr b="1" sz="900"/>
                    </a:p>
                  </a:txBody>
                  <a:tcPr marT="91425" marB="91425" marR="91425" marL="91425"/>
                </a:tc>
                <a:tc>
                  <a:txBody>
                    <a:bodyPr/>
                    <a:lstStyle/>
                    <a:p>
                      <a:pPr indent="0" lvl="0" marL="0" rtl="0" algn="ctr">
                        <a:lnSpc>
                          <a:spcPct val="115000"/>
                        </a:lnSpc>
                        <a:spcBef>
                          <a:spcPts val="0"/>
                        </a:spcBef>
                        <a:spcAft>
                          <a:spcPts val="0"/>
                        </a:spcAft>
                        <a:buNone/>
                      </a:pPr>
                      <a:r>
                        <a:rPr b="1" lang="en-GB" sz="900"/>
                        <a:t>Next research question</a:t>
                      </a:r>
                      <a:endParaRPr b="1" sz="900"/>
                    </a:p>
                  </a:txBody>
                  <a:tcPr marT="91425" marB="91425" marR="91425" marL="91425"/>
                </a:tc>
                <a:tc>
                  <a:txBody>
                    <a:bodyPr/>
                    <a:lstStyle/>
                    <a:p>
                      <a:pPr indent="0" lvl="0" marL="0" rtl="0" algn="ctr">
                        <a:lnSpc>
                          <a:spcPct val="115000"/>
                        </a:lnSpc>
                        <a:spcBef>
                          <a:spcPts val="0"/>
                        </a:spcBef>
                        <a:spcAft>
                          <a:spcPts val="0"/>
                        </a:spcAft>
                        <a:buNone/>
                      </a:pPr>
                      <a:r>
                        <a:rPr b="1" lang="en-GB" sz="900"/>
                        <a:t>What evaluation would require</a:t>
                      </a:r>
                      <a:endParaRPr b="1" sz="900"/>
                    </a:p>
                  </a:txBody>
                  <a:tcPr marT="91425" marB="91425" marR="91425" marL="91425"/>
                </a:tc>
              </a:tr>
              <a:tr h="361950">
                <a:tc>
                  <a:txBody>
                    <a:bodyPr/>
                    <a:lstStyle/>
                    <a:p>
                      <a:pPr indent="0" lvl="0" marL="0" rtl="0" algn="l">
                        <a:spcBef>
                          <a:spcPts val="0"/>
                        </a:spcBef>
                        <a:spcAft>
                          <a:spcPts val="0"/>
                        </a:spcAft>
                        <a:buNone/>
                      </a:pPr>
                      <a:r>
                        <a:rPr b="1" lang="en-GB" sz="900"/>
                        <a:t>Epistemic humility</a:t>
                      </a:r>
                      <a:endParaRPr b="1" sz="900"/>
                    </a:p>
                  </a:txBody>
                  <a:tcPr marT="91425" marB="91425" marR="91425" marL="91425"/>
                </a:tc>
                <a:tc>
                  <a:txBody>
                    <a:bodyPr/>
                    <a:lstStyle/>
                    <a:p>
                      <a:pPr indent="0" lvl="0" marL="0" rtl="0" algn="l">
                        <a:spcBef>
                          <a:spcPts val="0"/>
                        </a:spcBef>
                        <a:spcAft>
                          <a:spcPts val="0"/>
                        </a:spcAft>
                        <a:buNone/>
                      </a:pPr>
                      <a:r>
                        <a:rPr lang="en-GB" sz="800"/>
                        <a:t>Does the system recognise and communicate when several interpretations remain plausible?</a:t>
                      </a:r>
                      <a:endParaRPr sz="800"/>
                    </a:p>
                  </a:txBody>
                  <a:tcPr marT="91425" marB="91425" marR="91425" marL="91425"/>
                </a:tc>
                <a:tc>
                  <a:txBody>
                    <a:bodyPr/>
                    <a:lstStyle/>
                    <a:p>
                      <a:pPr indent="0" lvl="0" marL="0" rtl="0" algn="l">
                        <a:spcBef>
                          <a:spcPts val="0"/>
                        </a:spcBef>
                        <a:spcAft>
                          <a:spcPts val="0"/>
                        </a:spcAft>
                        <a:buNone/>
                      </a:pPr>
                      <a:r>
                        <a:rPr lang="en-GB" sz="800"/>
                        <a:t>Human judgments of evidence sufficiency, ambiguity, appropriate abstention and explanation accuracy.</a:t>
                      </a:r>
                      <a:endParaRPr sz="800"/>
                    </a:p>
                  </a:txBody>
                  <a:tcPr marT="91425" marB="91425" marR="91425" marL="91425"/>
                </a:tc>
              </a:tr>
              <a:tr h="361950">
                <a:tc>
                  <a:txBody>
                    <a:bodyPr/>
                    <a:lstStyle/>
                    <a:p>
                      <a:pPr indent="0" lvl="0" marL="0" rtl="0" algn="l">
                        <a:spcBef>
                          <a:spcPts val="0"/>
                        </a:spcBef>
                        <a:spcAft>
                          <a:spcPts val="0"/>
                        </a:spcAft>
                        <a:buNone/>
                      </a:pPr>
                      <a:r>
                        <a:rPr b="1" lang="en-GB" sz="900"/>
                        <a:t>Stakes / skin in the game</a:t>
                      </a:r>
                      <a:endParaRPr b="1" sz="900"/>
                    </a:p>
                  </a:txBody>
                  <a:tcPr marT="91425" marB="91425" marR="91425" marL="91425"/>
                </a:tc>
                <a:tc>
                  <a:txBody>
                    <a:bodyPr/>
                    <a:lstStyle/>
                    <a:p>
                      <a:pPr indent="0" lvl="0" marL="0" rtl="0" algn="l">
                        <a:spcBef>
                          <a:spcPts val="0"/>
                        </a:spcBef>
                        <a:spcAft>
                          <a:spcPts val="0"/>
                        </a:spcAft>
                        <a:buNone/>
                      </a:pPr>
                      <a:r>
                        <a:rPr lang="en-GB" sz="800"/>
                        <a:t>Does it understand how consequences and perceived control shape emotion?</a:t>
                      </a:r>
                      <a:endParaRPr sz="800"/>
                    </a:p>
                  </a:txBody>
                  <a:tcPr marT="91425" marB="91425" marR="91425" marL="91425"/>
                </a:tc>
                <a:tc>
                  <a:txBody>
                    <a:bodyPr/>
                    <a:lstStyle/>
                    <a:p>
                      <a:pPr indent="0" lvl="0" marL="0" rtl="0" algn="l">
                        <a:spcBef>
                          <a:spcPts val="0"/>
                        </a:spcBef>
                        <a:spcAft>
                          <a:spcPts val="0"/>
                        </a:spcAft>
                        <a:buNone/>
                      </a:pPr>
                      <a:r>
                        <a:rPr lang="en-GB" sz="800"/>
                        <a:t>Situations where similar observable cues occur under different stakes, roles or possibilities for action.</a:t>
                      </a:r>
                      <a:endParaRPr sz="800"/>
                    </a:p>
                  </a:txBody>
                  <a:tcPr marT="91425" marB="91425" marR="91425" marL="91425"/>
                </a:tc>
              </a:tr>
              <a:tr h="361950">
                <a:tc>
                  <a:txBody>
                    <a:bodyPr/>
                    <a:lstStyle/>
                    <a:p>
                      <a:pPr indent="0" lvl="0" marL="0" rtl="0" algn="l">
                        <a:spcBef>
                          <a:spcPts val="0"/>
                        </a:spcBef>
                        <a:spcAft>
                          <a:spcPts val="0"/>
                        </a:spcAft>
                        <a:buNone/>
                      </a:pPr>
                      <a:r>
                        <a:rPr b="1" lang="en-GB" sz="900"/>
                        <a:t>Situated and embodied understanding</a:t>
                      </a:r>
                      <a:endParaRPr b="1" sz="900"/>
                    </a:p>
                  </a:txBody>
                  <a:tcPr marT="91425" marB="91425" marR="91425" marL="91425"/>
                </a:tc>
                <a:tc>
                  <a:txBody>
                    <a:bodyPr/>
                    <a:lstStyle/>
                    <a:p>
                      <a:pPr indent="0" lvl="0" marL="0" rtl="0" algn="l">
                        <a:spcBef>
                          <a:spcPts val="0"/>
                        </a:spcBef>
                        <a:spcAft>
                          <a:spcPts val="0"/>
                        </a:spcAft>
                        <a:buNone/>
                      </a:pPr>
                      <a:r>
                        <a:rPr lang="en-GB" sz="800"/>
                        <a:t>Can it interpret and respond to emotion as an interaction unfolds?</a:t>
                      </a:r>
                      <a:endParaRPr sz="800"/>
                    </a:p>
                  </a:txBody>
                  <a:tcPr marT="91425" marB="91425" marR="91425" marL="91425"/>
                </a:tc>
                <a:tc>
                  <a:txBody>
                    <a:bodyPr/>
                    <a:lstStyle/>
                    <a:p>
                      <a:pPr indent="0" lvl="0" marL="0" rtl="0" algn="l">
                        <a:spcBef>
                          <a:spcPts val="0"/>
                        </a:spcBef>
                        <a:spcAft>
                          <a:spcPts val="0"/>
                        </a:spcAft>
                        <a:buNone/>
                      </a:pPr>
                      <a:r>
                        <a:rPr lang="en-GB" sz="800"/>
                        <a:t>Interactive tasks involving timing, mutual adjustment, misunderstanding and repair.</a:t>
                      </a:r>
                      <a:endParaRPr sz="800"/>
                    </a:p>
                  </a:txBody>
                  <a:tcPr marT="91425" marB="91425" marR="91425" marL="91425"/>
                </a:tc>
              </a:tr>
              <a:tr h="361950">
                <a:tc>
                  <a:txBody>
                    <a:bodyPr/>
                    <a:lstStyle/>
                    <a:p>
                      <a:pPr indent="0" lvl="0" marL="0" rtl="0" algn="l">
                        <a:spcBef>
                          <a:spcPts val="0"/>
                        </a:spcBef>
                        <a:spcAft>
                          <a:spcPts val="0"/>
                        </a:spcAft>
                        <a:buNone/>
                      </a:pPr>
                      <a:r>
                        <a:rPr b="1" lang="en-GB" sz="900"/>
                        <a:t>Personal meaning</a:t>
                      </a:r>
                      <a:endParaRPr b="1" sz="900"/>
                    </a:p>
                  </a:txBody>
                  <a:tcPr marT="91425" marB="91425" marR="91425" marL="91425"/>
                </a:tc>
                <a:tc>
                  <a:txBody>
                    <a:bodyPr/>
                    <a:lstStyle/>
                    <a:p>
                      <a:pPr indent="0" lvl="0" marL="0" rtl="0" algn="l">
                        <a:spcBef>
                          <a:spcPts val="0"/>
                        </a:spcBef>
                        <a:spcAft>
                          <a:spcPts val="0"/>
                        </a:spcAft>
                        <a:buNone/>
                      </a:pPr>
                      <a:r>
                        <a:rPr lang="en-GB" sz="800"/>
                        <a:t>Can it understand why an event matters differently to different people?</a:t>
                      </a:r>
                      <a:endParaRPr sz="800"/>
                    </a:p>
                  </a:txBody>
                  <a:tcPr marT="91425" marB="91425" marR="91425" marL="91425"/>
                </a:tc>
                <a:tc>
                  <a:txBody>
                    <a:bodyPr/>
                    <a:lstStyle/>
                    <a:p>
                      <a:pPr indent="0" lvl="0" marL="0" rtl="0" algn="l">
                        <a:spcBef>
                          <a:spcPts val="0"/>
                        </a:spcBef>
                        <a:spcAft>
                          <a:spcPts val="0"/>
                        </a:spcAft>
                        <a:buNone/>
                      </a:pPr>
                      <a:r>
                        <a:rPr lang="en-GB" sz="800"/>
                        <a:t>Personal histories and goals, with interpretations assessed by the people concerned.</a:t>
                      </a:r>
                      <a:endParaRPr sz="800"/>
                    </a:p>
                  </a:txBody>
                  <a:tcPr marT="91425" marB="91425" marR="91425" marL="91425"/>
                </a:tc>
              </a:tr>
            </a:tbl>
          </a:graphicData>
        </a:graphic>
      </p:graphicFrame>
      <p:sp>
        <p:nvSpPr>
          <p:cNvPr id="69" name="Google Shape;69;p15"/>
          <p:cNvSpPr txBox="1"/>
          <p:nvPr/>
        </p:nvSpPr>
        <p:spPr>
          <a:xfrm>
            <a:off x="197425" y="4568875"/>
            <a:ext cx="7407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1"/>
                </a:solidFill>
              </a:rPr>
              <a:t>For each, explain </a:t>
            </a:r>
            <a:r>
              <a:rPr b="1" lang="en-GB" sz="1100">
                <a:solidFill>
                  <a:schemeClr val="dk1"/>
                </a:solidFill>
              </a:rPr>
              <a:t>what would count as progress</a:t>
            </a:r>
            <a:r>
              <a:rPr lang="en-GB" sz="1100">
                <a:solidFill>
                  <a:schemeClr val="dk1"/>
                </a:solidFill>
              </a:rPr>
              <a:t>, rather than proposing a numerical index. Also distinguish understanding someone else’s stakes or embodied experience from possessing those experiences itself.</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End with the larger implication</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GB" sz="1100">
                <a:solidFill>
                  <a:schemeClr val="dk1"/>
                </a:solidFill>
              </a:rPr>
              <a:t>The agenda is to establish what kinds of emotional understanding systems demonstrate, under which conditions, and where their claims exceed the evidence.</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A possible final paragraph:</a:t>
            </a:r>
            <a:endParaRPr sz="1100">
              <a:solidFill>
                <a:schemeClr val="dk1"/>
              </a:solidFill>
            </a:endParaRPr>
          </a:p>
          <a:p>
            <a:pPr indent="0" lvl="0" marL="381000" marR="381000" rtl="0" algn="l">
              <a:spcBef>
                <a:spcPts val="1200"/>
              </a:spcBef>
              <a:spcAft>
                <a:spcPts val="0"/>
              </a:spcAft>
              <a:buClr>
                <a:schemeClr val="dk1"/>
              </a:buClr>
              <a:buSzPts val="1100"/>
              <a:buFont typeface="Arial"/>
              <a:buNone/>
            </a:pPr>
            <a:r>
              <a:rPr lang="en-GB" sz="1100">
                <a:solidFill>
                  <a:schemeClr val="dk1"/>
                </a:solidFill>
              </a:rPr>
              <a:t>The four principles provide an agenda for examining the limits of AI emotional understanding. Our empirical example illustrates one part of that agenda: </a:t>
            </a:r>
            <a:r>
              <a:rPr b="1" lang="en-GB" sz="1100">
                <a:solidFill>
                  <a:schemeClr val="dk1"/>
                </a:solidFill>
              </a:rPr>
              <a:t>changes in willingness to answer need not be accompanied by an accurate account of the evidence supporting a judgment</a:t>
            </a:r>
            <a:r>
              <a:rPr lang="en-GB" sz="1100">
                <a:solidFill>
                  <a:schemeClr val="dk1"/>
                </a:solidFill>
              </a:rPr>
              <a:t>. Extending evaluation to stakes, situated interaction and personal meaning will require designs that preserve the consequential, relational and biographical contexts of emotion. Progress should be judged by how well systems interpret those contexts, recognise unresolved ambiguity and communicate the limits of their judgments.</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That ending connects </a:t>
            </a:r>
            <a:r>
              <a:rPr b="1" lang="en-GB" sz="1100">
                <a:solidFill>
                  <a:schemeClr val="dk1"/>
                </a:solidFill>
              </a:rPr>
              <a:t>principles → review → example → research agenda</a:t>
            </a:r>
            <a:r>
              <a:rPr lang="en-GB" sz="1100">
                <a:solidFill>
                  <a:schemeClr val="dk1"/>
                </a:solidFill>
              </a:rPr>
              <a:t>, while keeping the paper’s contribution conceptual.</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Contributions</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GB" sz="2800">
                <a:solidFill>
                  <a:schemeClr val="dk1"/>
                </a:solidFill>
              </a:rPr>
              <a:t>Benchmark analysis</a:t>
            </a:r>
            <a:endParaRPr>
              <a:solidFill>
                <a:schemeClr val="dk1"/>
              </a:solidFill>
            </a:endParaRPr>
          </a:p>
          <a:p>
            <a:pPr indent="-342900" lvl="0" marL="457200" rtl="0" algn="l">
              <a:spcBef>
                <a:spcPts val="0"/>
              </a:spcBef>
              <a:spcAft>
                <a:spcPts val="0"/>
              </a:spcAft>
              <a:buSzPts val="1800"/>
              <a:buAutoNum type="arabicPeriod"/>
            </a:pPr>
            <a:r>
              <a:rPr lang="en-GB">
                <a:solidFill>
                  <a:schemeClr val="dk1"/>
                </a:solidFill>
              </a:rPr>
              <a:t>Findings and </a:t>
            </a:r>
            <a:r>
              <a:rPr lang="en-GB">
                <a:solidFill>
                  <a:schemeClr val="dk1"/>
                </a:solidFill>
              </a:rPr>
              <a:t>recommendations</a:t>
            </a:r>
            <a:r>
              <a:rPr lang="en-GB">
                <a:solidFill>
                  <a:schemeClr val="dk1"/>
                </a:solidFill>
              </a:rPr>
              <a:t> for the benchmarks</a:t>
            </a:r>
            <a:endParaRPr>
              <a:solidFill>
                <a:schemeClr val="dk1"/>
              </a:solidFill>
            </a:endParaRPr>
          </a:p>
          <a:p>
            <a:pPr indent="-342900" lvl="0" marL="457200" rtl="0" algn="l">
              <a:spcBef>
                <a:spcPts val="0"/>
              </a:spcBef>
              <a:spcAft>
                <a:spcPts val="0"/>
              </a:spcAft>
              <a:buClr>
                <a:schemeClr val="dk1"/>
              </a:buClr>
              <a:buSzPts val="1800"/>
              <a:buAutoNum type="arabicPeriod"/>
            </a:pPr>
            <a:r>
              <a:rPr lang="en-GB">
                <a:solidFill>
                  <a:schemeClr val="dk1"/>
                </a:solidFill>
              </a:rPr>
              <a:t>Datasets doesn’t capture things like personal stake and other 4 discussed </a:t>
            </a:r>
            <a:endParaRPr>
              <a:solidFill>
                <a:schemeClr val="dk1"/>
              </a:solidFill>
            </a:endParaRPr>
          </a:p>
          <a:p>
            <a:pPr indent="-342900" lvl="0" marL="457200" rtl="0" algn="l">
              <a:spcBef>
                <a:spcPts val="0"/>
              </a:spcBef>
              <a:spcAft>
                <a:spcPts val="0"/>
              </a:spcAft>
              <a:buClr>
                <a:schemeClr val="dk1"/>
              </a:buClr>
              <a:buSzPts val="1800"/>
              <a:buAutoNum type="arabicPeriod"/>
            </a:pPr>
            <a:r>
              <a:rPr lang="en-GB">
                <a:solidFill>
                  <a:schemeClr val="dk1"/>
                </a:solidFill>
              </a:rPr>
              <a:t>Limitations of the design of current benchmarks. They are designed for pattern recognition </a:t>
            </a:r>
            <a:r>
              <a:rPr lang="en-GB">
                <a:solidFill>
                  <a:schemeClr val="dk1"/>
                </a:solidFill>
              </a:rPr>
              <a:t>instead</a:t>
            </a:r>
            <a:r>
              <a:rPr lang="en-GB">
                <a:solidFill>
                  <a:schemeClr val="dk1"/>
                </a:solidFill>
              </a:rPr>
              <a:t> of emotion detection.</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AI Alignment paper: </a:t>
            </a:r>
            <a:r>
              <a:rPr lang="en-GB"/>
              <a:t>abstention</a:t>
            </a:r>
            <a:r>
              <a:rPr lang="en-GB"/>
              <a:t> + reasoning</a:t>
            </a:r>
            <a:endParaRPr/>
          </a:p>
        </p:txBody>
      </p:sp>
      <p:sp>
        <p:nvSpPr>
          <p:cNvPr id="87" name="Google Shape;87;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05.10.2026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Useful links</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GitHub: </a:t>
            </a:r>
            <a:r>
              <a:rPr lang="en-GB" u="sng">
                <a:solidFill>
                  <a:schemeClr val="hlink"/>
                </a:solidFill>
                <a:hlinkClick r:id="rId3"/>
              </a:rPr>
              <a:t>https://github.com/seriozh1/ai-alignment-demands-emotions/tree/main</a:t>
            </a:r>
            <a:r>
              <a:rPr lang="en-GB">
                <a:solidFill>
                  <a:schemeClr val="dk1"/>
                </a:solidFill>
              </a:rPr>
              <a:t> </a:t>
            </a:r>
            <a:endParaRPr>
              <a:solidFill>
                <a:schemeClr val="dk1"/>
              </a:solidFill>
            </a:endParaRPr>
          </a:p>
          <a:p>
            <a:pPr indent="0" lvl="0" marL="0" rtl="0" algn="l">
              <a:spcBef>
                <a:spcPts val="1200"/>
              </a:spcBef>
              <a:spcAft>
                <a:spcPts val="0"/>
              </a:spcAft>
              <a:buNone/>
            </a:pPr>
            <a:r>
              <a:rPr lang="en-GB">
                <a:solidFill>
                  <a:schemeClr val="dk1"/>
                </a:solidFill>
              </a:rPr>
              <a:t>You could read reasoning trajectories there - </a:t>
            </a:r>
            <a:br>
              <a:rPr lang="en-GB">
                <a:solidFill>
                  <a:schemeClr val="dk1"/>
                </a:solidFill>
              </a:rPr>
            </a:br>
            <a:r>
              <a:rPr lang="en-GB" u="sng">
                <a:solidFill>
                  <a:schemeClr val="hlink"/>
                </a:solidFill>
                <a:hlinkClick r:id="rId4"/>
              </a:rPr>
              <a:t>https://github.com/seriozh1/ai-alignment-demands-emotions/blob/main/outputs/2026-10-04_abstain_mismatch_explain/explanations.csv</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Since the pilot</a:t>
            </a:r>
            <a:endParaRPr/>
          </a:p>
        </p:txBody>
      </p:sp>
      <p:sp>
        <p:nvSpPr>
          <p:cNvPr id="99" name="Google Shape;99;p20"/>
          <p:cNvSpPr txBox="1"/>
          <p:nvPr>
            <p:ph idx="1" type="body"/>
          </p:nvPr>
        </p:nvSpPr>
        <p:spPr>
          <a:xfrm>
            <a:off x="278775" y="1152475"/>
            <a:ext cx="39852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Pilot: video raised confidence slightly (0.75 to 0.79)...</a:t>
            </a:r>
            <a:endParaRPr/>
          </a:p>
          <a:p>
            <a:pPr indent="-342900" lvl="0" marL="457200" rtl="0" algn="l">
              <a:lnSpc>
                <a:spcPct val="115000"/>
              </a:lnSpc>
              <a:spcBef>
                <a:spcPts val="0"/>
              </a:spcBef>
              <a:spcAft>
                <a:spcPts val="0"/>
              </a:spcAft>
              <a:buSzPts val="1800"/>
              <a:buChar char="●"/>
            </a:pPr>
            <a:r>
              <a:rPr lang="en-GB">
                <a:solidFill>
                  <a:schemeClr val="dk1"/>
                </a:solidFill>
              </a:rPr>
              <a:t>...but the model was confidently wrong just as often (right).</a:t>
            </a:r>
            <a:endParaRPr/>
          </a:p>
          <a:p>
            <a:pPr indent="-342900" lvl="0" marL="457200" rtl="0" algn="l">
              <a:lnSpc>
                <a:spcPct val="115000"/>
              </a:lnSpc>
              <a:spcBef>
                <a:spcPts val="0"/>
              </a:spcBef>
              <a:spcAft>
                <a:spcPts val="0"/>
              </a:spcAft>
              <a:buSzPts val="1800"/>
              <a:buChar char="●"/>
            </a:pPr>
            <a:r>
              <a:rPr lang="en-GB">
                <a:solidFill>
                  <a:schemeClr val="dk1"/>
                </a:solidFill>
              </a:rPr>
              <a:t>Asked for last time: abstention, a question-only floor, explanations, a wrong-video test.</a:t>
            </a:r>
            <a:endParaRPr/>
          </a:p>
        </p:txBody>
      </p:sp>
      <p:pic>
        <p:nvPicPr>
          <p:cNvPr descr="confidently_wrong.png" id="100" name="Google Shape;100;p20"/>
          <p:cNvPicPr preferRelativeResize="0"/>
          <p:nvPr/>
        </p:nvPicPr>
        <p:blipFill rotWithShape="1">
          <a:blip r:embed="rId3">
            <a:alphaModFix/>
          </a:blip>
          <a:srcRect b="0" l="0" r="0" t="0"/>
          <a:stretch/>
        </p:blipFill>
        <p:spPr>
          <a:xfrm>
            <a:off x="4436675" y="773540"/>
            <a:ext cx="4395625" cy="35964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Setup: five conditions</a:t>
            </a:r>
            <a:endParaRPr/>
          </a:p>
        </p:txBody>
      </p:sp>
      <p:sp>
        <p:nvSpPr>
          <p:cNvPr id="106" name="Google Shape;106;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Q_noE: question + options A-D (floor, comparable to the pilot).</a:t>
            </a:r>
            <a:endParaRPr/>
          </a:p>
          <a:p>
            <a:pPr indent="-342900" lvl="0" marL="457200" rtl="0" algn="l">
              <a:lnSpc>
                <a:spcPct val="115000"/>
              </a:lnSpc>
              <a:spcBef>
                <a:spcPts val="0"/>
              </a:spcBef>
              <a:spcAft>
                <a:spcPts val="0"/>
              </a:spcAft>
              <a:buSzPts val="1800"/>
              <a:buChar char="●"/>
            </a:pPr>
            <a:r>
              <a:rPr lang="en-GB">
                <a:solidFill>
                  <a:schemeClr val="dk1"/>
                </a:solidFill>
              </a:rPr>
              <a:t>Q: question + options A-E.</a:t>
            </a:r>
            <a:endParaRPr/>
          </a:p>
          <a:p>
            <a:pPr indent="-342900" lvl="0" marL="457200" rtl="0" algn="l">
              <a:lnSpc>
                <a:spcPct val="115000"/>
              </a:lnSpc>
              <a:spcBef>
                <a:spcPts val="0"/>
              </a:spcBef>
              <a:spcAft>
                <a:spcPts val="0"/>
              </a:spcAft>
              <a:buSzPts val="1800"/>
              <a:buChar char="●"/>
            </a:pPr>
            <a:r>
              <a:rPr lang="en-GB">
                <a:solidFill>
                  <a:schemeClr val="dk1"/>
                </a:solidFill>
              </a:rPr>
              <a:t>T: transcript + question + options A-E.</a:t>
            </a:r>
            <a:endParaRPr/>
          </a:p>
          <a:p>
            <a:pPr indent="-342900" lvl="0" marL="457200" rtl="0" algn="l">
              <a:lnSpc>
                <a:spcPct val="115000"/>
              </a:lnSpc>
              <a:spcBef>
                <a:spcPts val="0"/>
              </a:spcBef>
              <a:spcAft>
                <a:spcPts val="0"/>
              </a:spcAft>
              <a:buSzPts val="1800"/>
              <a:buChar char="●"/>
            </a:pPr>
            <a:r>
              <a:rPr lang="en-GB">
                <a:solidFill>
                  <a:schemeClr val="dk1"/>
                </a:solidFill>
              </a:rPr>
              <a:t>VT: T + 64 silent frames of the clip.</a:t>
            </a:r>
            <a:endParaRPr/>
          </a:p>
          <a:p>
            <a:pPr indent="-342900" lvl="0" marL="457200" rtl="0" algn="l">
              <a:lnSpc>
                <a:spcPct val="115000"/>
              </a:lnSpc>
              <a:spcBef>
                <a:spcPts val="0"/>
              </a:spcBef>
              <a:spcAft>
                <a:spcPts val="0"/>
              </a:spcAft>
              <a:buSzPts val="1800"/>
              <a:buChar char="●"/>
            </a:pPr>
            <a:r>
              <a:rPr lang="en-GB">
                <a:solidFill>
                  <a:schemeClr val="dk1"/>
                </a:solidFill>
              </a:rPr>
              <a:t>VTmis: T + 64 silent frames of a clip from a different film, with the closest clip length.</a:t>
            </a:r>
            <a:endParaRPr/>
          </a:p>
          <a:p>
            <a:pPr indent="-342900" lvl="0" marL="457200" rtl="0" algn="l">
              <a:lnSpc>
                <a:spcPct val="115000"/>
              </a:lnSpc>
              <a:spcBef>
                <a:spcPts val="0"/>
              </a:spcBef>
              <a:spcAft>
                <a:spcPts val="0"/>
              </a:spcAft>
              <a:buSzPts val="1800"/>
              <a:buChar char="●"/>
            </a:pPr>
            <a:r>
              <a:rPr lang="en-GB">
                <a:solidFill>
                  <a:schemeClr val="dk1"/>
                </a:solidFill>
              </a:rPr>
              <a:t>Option E: "Cannot tell from the given information." Abstain = E is the top letter.</a:t>
            </a:r>
            <a:endParaRPr/>
          </a:p>
          <a:p>
            <a:pPr indent="-342900" lvl="0" marL="457200" rtl="0" algn="l">
              <a:lnSpc>
                <a:spcPct val="115000"/>
              </a:lnSpc>
              <a:spcBef>
                <a:spcPts val="0"/>
              </a:spcBef>
              <a:spcAft>
                <a:spcPts val="0"/>
              </a:spcAft>
              <a:buSzPts val="1800"/>
              <a:buChar char="●"/>
            </a:pPr>
            <a:r>
              <a:rPr lang="en-GB">
                <a:solidFill>
                  <a:schemeClr val="dk1"/>
                </a:solidFill>
              </a:rPr>
              <a:t>Explanation: the model's answer is added to the chat, then: "Why did you choose this answer? Explain in one sentence." Scores are computed before this, so it cannot change them.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Data</a:t>
            </a:r>
            <a:endParaRPr/>
          </a:p>
        </p:txBody>
      </p:sp>
      <p:sp>
        <p:nvSpPr>
          <p:cNvPr id="112" name="Google Shape;112;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87 of the 598 emotion questions so far: the first 87 of the fixed random order, so a random sample.</a:t>
            </a:r>
            <a:endParaRPr/>
          </a:p>
          <a:p>
            <a:pPr indent="-342900" lvl="0" marL="457200" rtl="0" algn="l">
              <a:lnSpc>
                <a:spcPct val="115000"/>
              </a:lnSpc>
              <a:spcBef>
                <a:spcPts val="0"/>
              </a:spcBef>
              <a:spcAft>
                <a:spcPts val="0"/>
              </a:spcAft>
              <a:buSzPts val="1800"/>
              <a:buChar char="●"/>
            </a:pPr>
            <a:r>
              <a:rPr lang="en-GB">
                <a:solidFill>
                  <a:schemeClr val="dk1"/>
                </a:solidFill>
              </a:rPr>
              <a:t>Adding option E does not change which of A-D the model prefers: same as the pilot on 97-98% of questions, so the runs are comparable.</a:t>
            </a:r>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overview</a:t>
            </a:r>
            <a:endParaRPr/>
          </a:p>
        </p:txBody>
      </p:sp>
      <p:sp>
        <p:nvSpPr>
          <p:cNvPr id="118" name="Google Shape;118;p23"/>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Question and options alone: 54% correct; the options give away a lot.</a:t>
            </a:r>
            <a:endParaRPr/>
          </a:p>
          <a:p>
            <a:pPr indent="-342900" lvl="0" marL="457200" rtl="0" algn="l">
              <a:lnSpc>
                <a:spcPct val="115000"/>
              </a:lnSpc>
              <a:spcBef>
                <a:spcPts val="0"/>
              </a:spcBef>
              <a:spcAft>
                <a:spcPts val="0"/>
              </a:spcAft>
              <a:buSzPts val="1800"/>
              <a:buChar char="●"/>
            </a:pPr>
            <a:r>
              <a:rPr lang="en-GB">
                <a:solidFill>
                  <a:schemeClr val="dk1"/>
                </a:solidFill>
              </a:rPr>
              <a:t>Abstention falls as evidence is added, rises again with the wrong video.</a:t>
            </a:r>
            <a:endParaRPr/>
          </a:p>
          <a:p>
            <a:pPr indent="-342900" lvl="0" marL="457200" rtl="0" algn="l">
              <a:lnSpc>
                <a:spcPct val="115000"/>
              </a:lnSpc>
              <a:spcBef>
                <a:spcPts val="0"/>
              </a:spcBef>
              <a:spcAft>
                <a:spcPts val="0"/>
              </a:spcAft>
              <a:buSzPts val="1800"/>
              <a:buChar char="●"/>
            </a:pPr>
            <a:r>
              <a:rPr lang="en-GB">
                <a:solidFill>
                  <a:schemeClr val="dk1"/>
                </a:solidFill>
              </a:rPr>
              <a:t>Confidently wrong: T 13%, VT 9% (pilot, same questions: 15%, 12%).</a:t>
            </a:r>
            <a:endParaRPr/>
          </a:p>
        </p:txBody>
      </p:sp>
      <p:pic>
        <p:nvPicPr>
          <p:cNvPr descr="summary_by_condition.png" id="119" name="Google Shape;119;p23"/>
          <p:cNvPicPr preferRelativeResize="0"/>
          <p:nvPr/>
        </p:nvPicPr>
        <p:blipFill rotWithShape="1">
          <a:blip r:embed="rId3">
            <a:alphaModFix/>
          </a:blip>
          <a:srcRect b="0" l="0" r="0" t="0"/>
          <a:stretch/>
        </p:blipFill>
        <p:spPr>
          <a:xfrm>
            <a:off x="311700" y="2252475"/>
            <a:ext cx="8520602" cy="25561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abstention follows the evidence</a:t>
            </a:r>
            <a:endParaRPr/>
          </a:p>
        </p:txBody>
      </p:sp>
      <p:sp>
        <p:nvSpPr>
          <p:cNvPr id="125" name="Google Shape;125;p24"/>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Abstained: Q 66%, T 45%, VT 31%; with the wrong video back to 45%.</a:t>
            </a:r>
            <a:endParaRPr/>
          </a:p>
          <a:p>
            <a:pPr indent="-342900" lvl="0" marL="457200" rtl="0" algn="l">
              <a:lnSpc>
                <a:spcPct val="115000"/>
              </a:lnSpc>
              <a:spcBef>
                <a:spcPts val="0"/>
              </a:spcBef>
              <a:spcAft>
                <a:spcPts val="0"/>
              </a:spcAft>
              <a:buSzPts val="1800"/>
              <a:buChar char="●"/>
            </a:pPr>
            <a:r>
              <a:rPr lang="en-GB">
                <a:solidFill>
                  <a:schemeClr val="dk1"/>
                </a:solidFill>
              </a:rPr>
              <a:t>Each step significant: p &lt; 0.001 (Q to T, T to VT), p = 0.005 (VT to VTmis).</a:t>
            </a:r>
            <a:endParaRPr/>
          </a:p>
          <a:p>
            <a:pPr indent="-342900" lvl="0" marL="457200" rtl="0" algn="l">
              <a:lnSpc>
                <a:spcPct val="115000"/>
              </a:lnSpc>
              <a:spcBef>
                <a:spcPts val="0"/>
              </a:spcBef>
              <a:spcAft>
                <a:spcPts val="0"/>
              </a:spcAft>
              <a:buSzPts val="1800"/>
              <a:buChar char="●"/>
            </a:pPr>
            <a:r>
              <a:rPr lang="en-GB">
                <a:solidFill>
                  <a:schemeClr val="dk1"/>
                </a:solidFill>
              </a:rPr>
              <a:t>The model reacts to what the frames show, not just to video being there.</a:t>
            </a:r>
            <a:endParaRPr/>
          </a:p>
        </p:txBody>
      </p:sp>
      <p:pic>
        <p:nvPicPr>
          <p:cNvPr descr="abstention_by_condition.png" id="126" name="Google Shape;126;p24"/>
          <p:cNvPicPr preferRelativeResize="0"/>
          <p:nvPr/>
        </p:nvPicPr>
        <p:blipFill rotWithShape="1">
          <a:blip r:embed="rId3">
            <a:alphaModFix/>
          </a:blip>
          <a:srcRect b="0" l="0" r="0" t="0"/>
          <a:stretch/>
        </p:blipFill>
        <p:spPr>
          <a:xfrm>
            <a:off x="943277" y="2252475"/>
            <a:ext cx="7257444" cy="2771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question by question</a:t>
            </a:r>
            <a:endParaRPr/>
          </a:p>
        </p:txBody>
      </p:sp>
      <p:sp>
        <p:nvSpPr>
          <p:cNvPr id="132" name="Google Shape;132;p25"/>
          <p:cNvSpPr txBox="1"/>
          <p:nvPr>
            <p:ph idx="1" type="body"/>
          </p:nvPr>
        </p:nvSpPr>
        <p:spPr>
          <a:xfrm>
            <a:off x="311700" y="1152475"/>
            <a:ext cx="8520600" cy="800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With the video, P(E) drops for 53 of 87 questions.</a:t>
            </a:r>
            <a:endParaRPr/>
          </a:p>
          <a:p>
            <a:pPr indent="-342900" lvl="0" marL="457200" rtl="0" algn="l">
              <a:lnSpc>
                <a:spcPct val="115000"/>
              </a:lnSpc>
              <a:spcBef>
                <a:spcPts val="0"/>
              </a:spcBef>
              <a:spcAft>
                <a:spcPts val="0"/>
              </a:spcAft>
              <a:buSzPts val="1800"/>
              <a:buChar char="●"/>
            </a:pPr>
            <a:r>
              <a:rPr lang="en-GB">
                <a:solidFill>
                  <a:schemeClr val="dk1"/>
                </a:solidFill>
              </a:rPr>
              <a:t>With the wrong video, it rises for 48.</a:t>
            </a:r>
            <a:endParaRPr/>
          </a:p>
        </p:txBody>
      </p:sp>
      <p:pic>
        <p:nvPicPr>
          <p:cNvPr descr="p_E_per_question.png" id="133" name="Google Shape;133;p25"/>
          <p:cNvPicPr preferRelativeResize="0"/>
          <p:nvPr/>
        </p:nvPicPr>
        <p:blipFill rotWithShape="1">
          <a:blip r:embed="rId3">
            <a:alphaModFix/>
          </a:blip>
          <a:srcRect b="0" l="0" r="0" t="0"/>
          <a:stretch/>
        </p:blipFill>
        <p:spPr>
          <a:xfrm>
            <a:off x="1550975" y="2002475"/>
            <a:ext cx="6042050" cy="3021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the video changes whether, not what</a:t>
            </a:r>
            <a:endParaRPr/>
          </a:p>
        </p:txBody>
      </p:sp>
      <p:sp>
        <p:nvSpPr>
          <p:cNvPr id="139" name="Google Shape;139;p26"/>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Best A-D answer, ignoring E: right in 62% (T), 61% (VT), 61% (VTmis).</a:t>
            </a:r>
            <a:endParaRPr/>
          </a:p>
          <a:p>
            <a:pPr indent="-342900" lvl="0" marL="457200" rtl="0" algn="l">
              <a:lnSpc>
                <a:spcPct val="115000"/>
              </a:lnSpc>
              <a:spcBef>
                <a:spcPts val="0"/>
              </a:spcBef>
              <a:spcAft>
                <a:spcPts val="0"/>
              </a:spcAft>
              <a:buSzPts val="1800"/>
              <a:buChar char="●"/>
            </a:pPr>
            <a:r>
              <a:rPr lang="en-GB">
                <a:solidFill>
                  <a:schemeClr val="dk1"/>
                </a:solidFill>
              </a:rPr>
              <a:t>When it answers, it is right about 70% of the time in Q, T and VT.</a:t>
            </a:r>
            <a:endParaRPr/>
          </a:p>
          <a:p>
            <a:pPr indent="-342900" lvl="0" marL="457200" rtl="0" algn="l">
              <a:lnSpc>
                <a:spcPct val="115000"/>
              </a:lnSpc>
              <a:spcBef>
                <a:spcPts val="0"/>
              </a:spcBef>
              <a:spcAft>
                <a:spcPts val="0"/>
              </a:spcAft>
              <a:buSzPts val="1800"/>
              <a:buChar char="●"/>
            </a:pPr>
            <a:r>
              <a:rPr lang="en-GB">
                <a:solidFill>
                  <a:schemeClr val="dk1"/>
                </a:solidFill>
              </a:rPr>
              <a:t>VT's higher accuracy (38% to 48%) comes only from answering more often.</a:t>
            </a:r>
            <a:endParaRPr/>
          </a:p>
        </p:txBody>
      </p:sp>
      <p:pic>
        <p:nvPicPr>
          <p:cNvPr descr="outcomes_by_condition.png" id="140" name="Google Shape;140;p26"/>
          <p:cNvPicPr preferRelativeResize="0"/>
          <p:nvPr/>
        </p:nvPicPr>
        <p:blipFill rotWithShape="1">
          <a:blip r:embed="rId3">
            <a:alphaModFix/>
          </a:blip>
          <a:srcRect b="0" l="0" r="0" t="0"/>
          <a:stretch/>
        </p:blipFill>
        <p:spPr>
          <a:xfrm>
            <a:off x="943277" y="2252475"/>
            <a:ext cx="7257444" cy="2771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where the answers move</a:t>
            </a:r>
            <a:endParaRPr/>
          </a:p>
        </p:txBody>
      </p:sp>
      <p:sp>
        <p:nvSpPr>
          <p:cNvPr id="146" name="Google Shape;146;p27"/>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T to VT: 13 abstentions become right answers, 4 become wrong.</a:t>
            </a:r>
            <a:endParaRPr/>
          </a:p>
          <a:p>
            <a:pPr indent="-342900" lvl="0" marL="457200" rtl="0" algn="l">
              <a:lnSpc>
                <a:spcPct val="115000"/>
              </a:lnSpc>
              <a:spcBef>
                <a:spcPts val="0"/>
              </a:spcBef>
              <a:spcAft>
                <a:spcPts val="0"/>
              </a:spcAft>
              <a:buSzPts val="1800"/>
              <a:buChar char="●"/>
            </a:pPr>
            <a:r>
              <a:rPr lang="en-GB">
                <a:solidFill>
                  <a:schemeClr val="dk1"/>
                </a:solidFill>
              </a:rPr>
              <a:t>VT to VTmis: 14 right answers become abstentions, only 2 become wrong.</a:t>
            </a:r>
            <a:endParaRPr/>
          </a:p>
          <a:p>
            <a:pPr indent="-342900" lvl="0" marL="457200" rtl="0" algn="l">
              <a:lnSpc>
                <a:spcPct val="115000"/>
              </a:lnSpc>
              <a:spcBef>
                <a:spcPts val="0"/>
              </a:spcBef>
              <a:spcAft>
                <a:spcPts val="0"/>
              </a:spcAft>
              <a:buSzPts val="1800"/>
              <a:buChar char="●"/>
            </a:pPr>
            <a:r>
              <a:rPr lang="en-GB">
                <a:solidFill>
                  <a:schemeClr val="dk1"/>
                </a:solidFill>
              </a:rPr>
              <a:t>The wrong video mostly makes the model withdraw, not mislead it.</a:t>
            </a:r>
            <a:endParaRPr/>
          </a:p>
        </p:txBody>
      </p:sp>
      <p:pic>
        <p:nvPicPr>
          <p:cNvPr descr="outcome_transitions.png" id="147" name="Google Shape;147;p27"/>
          <p:cNvPicPr preferRelativeResize="0"/>
          <p:nvPr/>
        </p:nvPicPr>
        <p:blipFill rotWithShape="1">
          <a:blip r:embed="rId3">
            <a:alphaModFix/>
          </a:blip>
          <a:srcRect b="0" l="0" r="0" t="0"/>
          <a:stretch/>
        </p:blipFill>
        <p:spPr>
          <a:xfrm>
            <a:off x="311700" y="2252475"/>
            <a:ext cx="8520602" cy="25561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subgroups</a:t>
            </a:r>
            <a:endParaRPr/>
          </a:p>
        </p:txBody>
      </p:sp>
      <p:sp>
        <p:nvSpPr>
          <p:cNvPr id="153" name="Google Shape;153;p28"/>
          <p:cNvSpPr txBox="1"/>
          <p:nvPr>
            <p:ph idx="1" type="body"/>
          </p:nvPr>
        </p:nvSpPr>
        <p:spPr>
          <a:xfrm>
            <a:off x="311700" y="1152475"/>
            <a:ext cx="8520600" cy="800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Visual-cue tag: abstention drops about equally in both groups.</a:t>
            </a:r>
            <a:endParaRPr/>
          </a:p>
          <a:p>
            <a:pPr indent="-342900" lvl="0" marL="457200" rtl="0" algn="l">
              <a:lnSpc>
                <a:spcPct val="115000"/>
              </a:lnSpc>
              <a:spcBef>
                <a:spcPts val="0"/>
              </a:spcBef>
              <a:spcAft>
                <a:spcPts val="0"/>
              </a:spcAft>
              <a:buSzPts val="1800"/>
              <a:buChar char="●"/>
            </a:pPr>
            <a:r>
              <a:rPr lang="en-GB">
                <a:solidFill>
                  <a:schemeClr val="dk1"/>
                </a:solidFill>
              </a:rPr>
              <a:t>No dialogue (n = 8): clearest video effect, T 88%, VT 63%, VTmis 88%.</a:t>
            </a:r>
            <a:endParaRPr/>
          </a:p>
        </p:txBody>
      </p:sp>
      <p:pic>
        <p:nvPicPr>
          <p:cNvPr descr="abstention_subgroups.png" id="154" name="Google Shape;154;p28"/>
          <p:cNvPicPr preferRelativeResize="0"/>
          <p:nvPr/>
        </p:nvPicPr>
        <p:blipFill rotWithShape="1">
          <a:blip r:embed="rId3">
            <a:alphaModFix/>
          </a:blip>
          <a:srcRect b="0" l="0" r="0" t="0"/>
          <a:stretch/>
        </p:blipFill>
        <p:spPr>
          <a:xfrm>
            <a:off x="452420" y="2002475"/>
            <a:ext cx="8239157" cy="30210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Explanations: the wrong video goes unnoticed</a:t>
            </a:r>
            <a:endParaRPr/>
          </a:p>
        </p:txBody>
      </p:sp>
      <p:sp>
        <p:nvSpPr>
          <p:cNvPr id="160" name="Google Shape;160;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None of the 87 explanations with the wrong video says the video does not fit.</a:t>
            </a:r>
            <a:endParaRPr/>
          </a:p>
          <a:p>
            <a:pPr indent="-342900" lvl="0" marL="457200" rtl="0" algn="l">
              <a:lnSpc>
                <a:spcPct val="115000"/>
              </a:lnSpc>
              <a:spcBef>
                <a:spcPts val="0"/>
              </a:spcBef>
              <a:spcAft>
                <a:spcPts val="0"/>
              </a:spcAft>
              <a:buSzPts val="1800"/>
              <a:buChar char="●"/>
            </a:pPr>
            <a:r>
              <a:rPr lang="en-GB">
                <a:solidFill>
                  <a:schemeClr val="dk1"/>
                </a:solidFill>
              </a:rPr>
              <a:t>In all 16 cases where the wrong video made the model abstain, it blames "the given information" or "the transcript", which is identical to VT, where it answered.</a:t>
            </a:r>
            <a:endParaRPr/>
          </a:p>
          <a:p>
            <a:pPr indent="-342900" lvl="0" marL="457200" rtl="0" algn="l">
              <a:lnSpc>
                <a:spcPct val="115000"/>
              </a:lnSpc>
              <a:spcBef>
                <a:spcPts val="0"/>
              </a:spcBef>
              <a:spcAft>
                <a:spcPts val="0"/>
              </a:spcAft>
              <a:buSzPts val="1800"/>
              <a:buChar char="●"/>
            </a:pPr>
            <a:r>
              <a:rPr lang="en-GB">
                <a:solidFill>
                  <a:schemeClr val="dk1"/>
                </a:solidFill>
              </a:rPr>
              <a:t>R4Xhe: "the provided transcript does not contain any dialogue". It does, and T answered correctly.</a:t>
            </a:r>
            <a:endParaRPr/>
          </a:p>
          <a:p>
            <a:pPr indent="-342900" lvl="0" marL="457200" rtl="0" algn="l">
              <a:lnSpc>
                <a:spcPct val="115000"/>
              </a:lnSpc>
              <a:spcBef>
                <a:spcPts val="0"/>
              </a:spcBef>
              <a:spcAft>
                <a:spcPts val="0"/>
              </a:spcAft>
              <a:buSzPts val="1800"/>
              <a:buChar char="●"/>
            </a:pPr>
            <a:r>
              <a:rPr lang="en-GB">
                <a:solidFill>
                  <a:schemeClr val="dk1"/>
                </a:solidFill>
              </a:rPr>
              <a:t>So the explanation does not name the only thing that changed.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Explanations: frames are not treated as evidence</a:t>
            </a:r>
            <a:endParaRPr/>
          </a:p>
        </p:txBody>
      </p:sp>
      <p:sp>
        <p:nvSpPr>
          <p:cNvPr id="166" name="Google Shape;166;p30"/>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Visual words are as frequent with the question only as with the video.</a:t>
            </a:r>
            <a:endParaRPr/>
          </a:p>
          <a:p>
            <a:pPr indent="-342900" lvl="0" marL="457200" rtl="0" algn="l">
              <a:lnSpc>
                <a:spcPct val="115000"/>
              </a:lnSpc>
              <a:spcBef>
                <a:spcPts val="0"/>
              </a:spcBef>
              <a:spcAft>
                <a:spcPts val="0"/>
              </a:spcAft>
              <a:buSzPts val="1800"/>
              <a:buChar char="●"/>
            </a:pPr>
            <a:r>
              <a:rPr lang="en-GB">
                <a:solidFill>
                  <a:schemeClr val="dk1"/>
                </a:solidFill>
              </a:rPr>
              <a:t>Only 5% of VT explanations mention the video at all.</a:t>
            </a:r>
            <a:endParaRPr/>
          </a:p>
          <a:p>
            <a:pPr indent="-342900" lvl="0" marL="457200" rtl="0" algn="l">
              <a:lnSpc>
                <a:spcPct val="115000"/>
              </a:lnSpc>
              <a:spcBef>
                <a:spcPts val="0"/>
              </a:spcBef>
              <a:spcAft>
                <a:spcPts val="0"/>
              </a:spcAft>
              <a:buSzPts val="1800"/>
              <a:buChar char="●"/>
            </a:pPr>
            <a:r>
              <a:rPr lang="en-GB">
                <a:solidFill>
                  <a:schemeClr val="dk1"/>
                </a:solidFill>
              </a:rPr>
              <a:t>No-dialogue clips: 5 of 8 say they can't tell because there's no dialogue.</a:t>
            </a:r>
            <a:endParaRPr/>
          </a:p>
        </p:txBody>
      </p:sp>
      <p:pic>
        <p:nvPicPr>
          <p:cNvPr descr="explanation_screens.png" id="167" name="Google Shape;167;p30"/>
          <p:cNvPicPr preferRelativeResize="0"/>
          <p:nvPr/>
        </p:nvPicPr>
        <p:blipFill rotWithShape="1">
          <a:blip r:embed="rId3">
            <a:alphaModFix/>
          </a:blip>
          <a:srcRect b="0" l="0" r="0" t="0"/>
          <a:stretch/>
        </p:blipFill>
        <p:spPr>
          <a:xfrm>
            <a:off x="311700" y="2252475"/>
            <a:ext cx="8520598" cy="243445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Explanations: restated and invented evidence</a:t>
            </a:r>
            <a:endParaRPr/>
          </a:p>
        </p:txBody>
      </p:sp>
      <p:sp>
        <p:nvSpPr>
          <p:cNvPr id="173" name="Google Shape;173;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With video, explanations mostly repeat the chosen option (median 85% of its words; T 53%).</a:t>
            </a:r>
            <a:endParaRPr/>
          </a:p>
          <a:p>
            <a:pPr indent="-342900" lvl="0" marL="457200" rtl="0" algn="l">
              <a:lnSpc>
                <a:spcPct val="115000"/>
              </a:lnSpc>
              <a:spcBef>
                <a:spcPts val="0"/>
              </a:spcBef>
              <a:spcAft>
                <a:spcPts val="0"/>
              </a:spcAft>
              <a:buSzPts val="1800"/>
              <a:buChar char="●"/>
            </a:pPr>
            <a:r>
              <a:rPr lang="en-GB">
                <a:solidFill>
                  <a:schemeClr val="dk1"/>
                </a:solidFill>
              </a:rPr>
              <a:t>Perception without video:</a:t>
            </a:r>
            <a:endParaRPr/>
          </a:p>
          <a:p>
            <a:pPr indent="-317500" lvl="1" marL="914400" rtl="0" algn="l">
              <a:lnSpc>
                <a:spcPct val="115000"/>
              </a:lnSpc>
              <a:spcBef>
                <a:spcPts val="0"/>
              </a:spcBef>
              <a:spcAft>
                <a:spcPts val="0"/>
              </a:spcAft>
              <a:buSzPts val="1400"/>
              <a:buChar char="○"/>
            </a:pPr>
            <a:r>
              <a:rPr lang="en-GB">
                <a:solidFill>
                  <a:schemeClr val="dk1"/>
                </a:solidFill>
              </a:rPr>
              <a:t>NEeui, question only: "the man's expression and body language suggest a neutral emotion".</a:t>
            </a:r>
            <a:endParaRPr/>
          </a:p>
          <a:p>
            <a:pPr indent="-317500" lvl="1" marL="914400" rtl="0" algn="l">
              <a:lnSpc>
                <a:spcPct val="115000"/>
              </a:lnSpc>
              <a:spcBef>
                <a:spcPts val="0"/>
              </a:spcBef>
              <a:spcAft>
                <a:spcPts val="0"/>
              </a:spcAft>
              <a:buSzPts val="1400"/>
              <a:buChar char="○"/>
            </a:pPr>
            <a:r>
              <a:rPr lang="en-GB">
                <a:solidFill>
                  <a:schemeClr val="dk1"/>
                </a:solidFill>
              </a:rPr>
              <a:t>aWgG2, transcript only: "the woman's expression and body language suggest she is joyful".</a:t>
            </a:r>
            <a:endParaRPr/>
          </a:p>
          <a:p>
            <a:pPr indent="-342900" lvl="0" marL="457200" rtl="0" algn="l">
              <a:lnSpc>
                <a:spcPct val="115000"/>
              </a:lnSpc>
              <a:spcBef>
                <a:spcPts val="0"/>
              </a:spcBef>
              <a:spcAft>
                <a:spcPts val="0"/>
              </a:spcAft>
              <a:buSzPts val="1800"/>
              <a:buChar char="●"/>
            </a:pPr>
            <a:r>
              <a:rPr lang="en-GB">
                <a:solidFill>
                  <a:schemeClr val="dk1"/>
                </a:solidFill>
              </a:rPr>
              <a:t>The option's text cited as a source:</a:t>
            </a:r>
            <a:endParaRPr/>
          </a:p>
          <a:p>
            <a:pPr indent="-317500" lvl="1" marL="914400" rtl="0" algn="l">
              <a:lnSpc>
                <a:spcPct val="115000"/>
              </a:lnSpc>
              <a:spcBef>
                <a:spcPts val="0"/>
              </a:spcBef>
              <a:spcAft>
                <a:spcPts val="0"/>
              </a:spcAft>
              <a:buSzPts val="1400"/>
              <a:buChar char="○"/>
            </a:pPr>
            <a:r>
              <a:rPr lang="en-GB">
                <a:solidFill>
                  <a:schemeClr val="dk1"/>
                </a:solidFill>
              </a:rPr>
              <a:t>K45sv, transcript only: "his reaction is described as nervous and sad" (only the option says so).</a:t>
            </a:r>
            <a:endParaRPr/>
          </a:p>
          <a:p>
            <a:pPr indent="-342900" lvl="0" marL="457200" rtl="0" algn="l">
              <a:lnSpc>
                <a:spcPct val="115000"/>
              </a:lnSpc>
              <a:spcBef>
                <a:spcPts val="0"/>
              </a:spcBef>
              <a:spcAft>
                <a:spcPts val="0"/>
              </a:spcAft>
              <a:buSzPts val="1800"/>
              <a:buChar char="●"/>
            </a:pPr>
            <a:r>
              <a:rPr lang="en-GB">
                <a:solidFill>
                  <a:schemeClr val="dk1"/>
                </a:solidFill>
              </a:rPr>
              <a:t>A confident story from the wrong film:</a:t>
            </a:r>
            <a:endParaRPr/>
          </a:p>
          <a:p>
            <a:pPr indent="-317500" lvl="1" marL="914400" rtl="0" algn="l">
              <a:lnSpc>
                <a:spcPct val="115000"/>
              </a:lnSpc>
              <a:spcBef>
                <a:spcPts val="0"/>
              </a:spcBef>
              <a:spcAft>
                <a:spcPts val="0"/>
              </a:spcAft>
              <a:buSzPts val="1400"/>
              <a:buChar char="○"/>
            </a:pPr>
            <a:r>
              <a:rPr lang="en-GB">
                <a:solidFill>
                  <a:schemeClr val="dk1"/>
                </a:solidFill>
              </a:rPr>
              <a:t>IESLM, wrong video: "she touches the fruit to her face..." with confidence 1.00 (restates the question).</a:t>
            </a:r>
            <a:endParaRPr/>
          </a:p>
          <a:p>
            <a:pPr indent="-317500" lvl="1" marL="914400" rtl="0" algn="l">
              <a:lnSpc>
                <a:spcPct val="115000"/>
              </a:lnSpc>
              <a:spcBef>
                <a:spcPts val="0"/>
              </a:spcBef>
              <a:spcAft>
                <a:spcPts val="0"/>
              </a:spcAft>
              <a:buSzPts val="1400"/>
              <a:buChar char="○"/>
            </a:pPr>
            <a:r>
              <a:rPr lang="en-GB">
                <a:solidFill>
                  <a:schemeClr val="dk1"/>
                </a:solidFill>
              </a:rPr>
              <a:t>gepWk, wrong video: switches to "disgusted by the hygiene of the neighborhood" (wrong; right with the real video).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Takeaways and limitations</a:t>
            </a:r>
            <a:endParaRPr/>
          </a:p>
        </p:txBody>
      </p:sp>
      <p:sp>
        <p:nvSpPr>
          <p:cNvPr id="179" name="Google Shape;179;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Partly supports the hypothesis: willingness to answer tracks the evidence, including pulling back with the wrong video.</a:t>
            </a:r>
            <a:endParaRPr/>
          </a:p>
          <a:p>
            <a:pPr indent="-342900" lvl="0" marL="457200" rtl="0" algn="l">
              <a:lnSpc>
                <a:spcPct val="115000"/>
              </a:lnSpc>
              <a:spcBef>
                <a:spcPts val="0"/>
              </a:spcBef>
              <a:spcAft>
                <a:spcPts val="0"/>
              </a:spcAft>
              <a:buSzPts val="1800"/>
              <a:buChar char="●"/>
            </a:pPr>
            <a:r>
              <a:rPr lang="en-GB">
                <a:solidFill>
                  <a:schemeClr val="dk1"/>
                </a:solidFill>
              </a:rPr>
              <a:t>But the video does not improve which answer is chosen, and the explanations misplace the source of uncertainty: humility in behavior, not in self-report.</a:t>
            </a:r>
            <a:endParaRPr/>
          </a:p>
          <a:p>
            <a:pPr indent="-342900" lvl="0" marL="457200" rtl="0" algn="l">
              <a:lnSpc>
                <a:spcPct val="115000"/>
              </a:lnSpc>
              <a:spcBef>
                <a:spcPts val="0"/>
              </a:spcBef>
              <a:spcAft>
                <a:spcPts val="0"/>
              </a:spcAft>
              <a:buSzPts val="1800"/>
              <a:buChar char="●"/>
            </a:pPr>
            <a:r>
              <a:rPr lang="en-GB">
                <a:solidFill>
                  <a:schemeClr val="dk1"/>
                </a:solidFill>
              </a:rPr>
              <a:t>87 questions and many tests; subgroups are tiny (8 no-dialogue, 17 untagged).</a:t>
            </a:r>
            <a:endParaRPr/>
          </a:p>
          <a:p>
            <a:pPr indent="-342900" lvl="0" marL="457200" rtl="0" algn="l">
              <a:lnSpc>
                <a:spcPct val="115000"/>
              </a:lnSpc>
              <a:spcBef>
                <a:spcPts val="0"/>
              </a:spcBef>
              <a:spcAft>
                <a:spcPts val="0"/>
              </a:spcAft>
              <a:buSzPts val="1800"/>
              <a:buChar char="●"/>
            </a:pPr>
            <a:r>
              <a:rPr lang="en-GB">
                <a:solidFill>
                  <a:schemeClr val="dk1"/>
                </a:solidFill>
              </a:rPr>
              <a:t>Explanation numbers come from keyword screens and reading; they need systematic coding.</a:t>
            </a:r>
            <a:endParaRPr/>
          </a:p>
          <a:p>
            <a:pPr indent="-342900" lvl="0" marL="457200" rtl="0" algn="l">
              <a:lnSpc>
                <a:spcPct val="115000"/>
              </a:lnSpc>
              <a:spcBef>
                <a:spcPts val="0"/>
              </a:spcBef>
              <a:spcAft>
                <a:spcPts val="0"/>
              </a:spcAft>
              <a:buSzPts val="1800"/>
              <a:buChar char="●"/>
            </a:pPr>
            <a:r>
              <a:rPr lang="en-GB">
                <a:solidFill>
                  <a:schemeClr val="dk1"/>
                </a:solidFill>
              </a:rPr>
              <a:t>Explanations are given after the answer, so they show what the model says, not what it computed. - </a:t>
            </a:r>
            <a:r>
              <a:rPr b="1" lang="en-GB">
                <a:solidFill>
                  <a:schemeClr val="dk1"/>
                </a:solidFill>
              </a:rPr>
              <a:t>Need to design better prompt</a:t>
            </a:r>
            <a:endParaRPr b="1"/>
          </a:p>
          <a:p>
            <a:pPr indent="-342900" lvl="0" marL="457200" rtl="0" algn="l">
              <a:lnSpc>
                <a:spcPct val="115000"/>
              </a:lnSpc>
              <a:spcBef>
                <a:spcPts val="0"/>
              </a:spcBef>
              <a:spcAft>
                <a:spcPts val="0"/>
              </a:spcAft>
              <a:buSzPts val="1800"/>
              <a:buChar char="●"/>
            </a:pPr>
            <a:r>
              <a:rPr lang="en-GB">
                <a:solidFill>
                  <a:schemeClr val="dk1"/>
                </a:solidFill>
              </a:rPr>
              <a:t>One model, reduced frame size, no audio.</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 Technical</a:t>
            </a:r>
            <a:endParaRPr/>
          </a:p>
        </p:txBody>
      </p:sp>
      <p:sp>
        <p:nvSpPr>
          <p:cNvPr id="185" name="Google Shape;185;p33"/>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solidFill>
                  <a:schemeClr val="dk1"/>
                </a:solidFill>
              </a:rPr>
              <a:t>GPU access. </a:t>
            </a:r>
            <a:br>
              <a:rPr lang="en-GB">
                <a:solidFill>
                  <a:schemeClr val="dk1"/>
                </a:solidFill>
              </a:rPr>
            </a:br>
            <a:r>
              <a:rPr lang="en-GB" u="sng">
                <a:solidFill>
                  <a:schemeClr val="hlink"/>
                </a:solidFill>
                <a:hlinkClick r:id="rId3"/>
              </a:rPr>
              <a:t>https://my.csc.fi/welcome</a:t>
            </a:r>
            <a:endParaRPr>
              <a:solidFill>
                <a:schemeClr val="dk1"/>
              </a:solidFill>
            </a:endParaRPr>
          </a:p>
          <a:p>
            <a:pPr indent="0" lvl="0" marL="0" rtl="0" algn="l">
              <a:spcBef>
                <a:spcPts val="1200"/>
              </a:spcBef>
              <a:spcAft>
                <a:spcPts val="0"/>
              </a:spcAft>
              <a:buNone/>
            </a:pPr>
            <a:r>
              <a:rPr lang="en-GB">
                <a:solidFill>
                  <a:schemeClr val="dk1"/>
                </a:solidFill>
              </a:rPr>
              <a:t>Giulio, pls add me to the project: sergei.x.smirnov@helsinki.fi</a:t>
            </a:r>
            <a:endParaRPr>
              <a:solidFill>
                <a:schemeClr val="dk1"/>
              </a:solidFill>
            </a:endParaRPr>
          </a:p>
          <a:p>
            <a:pPr indent="-342900" lvl="0" marL="457200" rtl="0" algn="l">
              <a:spcBef>
                <a:spcPts val="1200"/>
              </a:spcBef>
              <a:spcAft>
                <a:spcPts val="0"/>
              </a:spcAft>
              <a:buClr>
                <a:schemeClr val="dk1"/>
              </a:buClr>
              <a:buSzPts val="1800"/>
              <a:buChar char="●"/>
            </a:pPr>
            <a:r>
              <a:rPr lang="en-GB">
                <a:solidFill>
                  <a:schemeClr val="dk1"/>
                </a:solidFill>
              </a:rPr>
              <a:t>More models: another audiovisual model, plus one larger model through an API -?</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 </a:t>
            </a:r>
            <a:r>
              <a:rPr lang="en-GB"/>
              <a:t>Analysis</a:t>
            </a:r>
            <a:endParaRPr/>
          </a:p>
        </p:txBody>
      </p:sp>
      <p:sp>
        <p:nvSpPr>
          <p:cNvPr id="191" name="Google Shape;191;p34"/>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Coding scheme for explanations: cites transcript / describes visuals / restates the option / invents perception / not enough information / notices the mismatch. Code about 100, two coders or an LLM judge.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Lead candidates: "whether, not what" and the unnoticed wrong video.</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 Theoretical</a:t>
            </a:r>
            <a:endParaRPr/>
          </a:p>
        </p:txBody>
      </p:sp>
      <p:sp>
        <p:nvSpPr>
          <p:cNvPr id="197" name="Google Shape;197;p35"/>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Take a look at the papers from conference. Use template to start writing</a:t>
            </a:r>
            <a:br>
              <a:rPr lang="en-GB">
                <a:solidFill>
                  <a:schemeClr val="dk1"/>
                </a:solidFill>
              </a:rPr>
            </a:br>
            <a:r>
              <a:rPr lang="en-GB" u="sng">
                <a:solidFill>
                  <a:schemeClr val="accent5"/>
                </a:solidFill>
                <a:hlinkClick r:id="rId3">
                  <a:extLst>
                    <a:ext uri="{A12FA001-AC4F-418D-AE19-62706E023703}">
                      <ahyp:hlinkClr val="tx"/>
                    </a:ext>
                  </a:extLst>
                </a:hlinkClick>
              </a:rPr>
              <a:t>https://www.computer.org/csdl/journal/ta</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To understand how much to scale</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How many models authors use for eval</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How does "calibrated abstention without faithful self-report" support the underdetermination and epistemic humility thesis?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Try to match with video that will lead to one option A</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AI Alignment paper: pilot results</a:t>
            </a:r>
            <a:endParaRPr/>
          </a:p>
        </p:txBody>
      </p:sp>
      <p:sp>
        <p:nvSpPr>
          <p:cNvPr id="203" name="Google Shape;203;p3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28.09.2026</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and research question</a:t>
            </a:r>
            <a:endParaRPr/>
          </a:p>
        </p:txBody>
      </p:sp>
      <p:sp>
        <p:nvSpPr>
          <p:cNvPr id="209" name="Google Shape;209;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RQ: </a:t>
            </a:r>
            <a:r>
              <a:rPr b="1" lang="en-GB">
                <a:solidFill>
                  <a:schemeClr val="dk1"/>
                </a:solidFill>
              </a:rPr>
              <a:t>Do model confidence and willingness to abstain reflect the availability of the evidence humans need for social and emotional inference?</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Hypothesis: when humans need visual evidence, a transcript-only model should be less confident and abstain more than one given the video.</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Critical failure: a wrong answer given with high confidence even though the evidence is insufficient.</a:t>
            </a:r>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Pilot setup</a:t>
            </a:r>
            <a:endParaRPr/>
          </a:p>
        </p:txBody>
      </p:sp>
      <p:sp>
        <p:nvSpPr>
          <p:cNvPr id="215" name="Google Shape;215;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GB">
                <a:solidFill>
                  <a:schemeClr val="dk1"/>
                </a:solidFill>
              </a:rPr>
              <a:t>Benchmark: MoMentS (short films, multiple-choice theory-of-mind questions), Emotions category only.</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Model: Qwen2.5-Omni-7B, a recent native audiovisual model; only the text-producing part is used, and audio is never given.</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Conditions: T = transcript + question; VT = the same text + 64 silent frames of the clip.</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Identical prompts: the text is the same in T and VT, so the only difference is the video.</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Confidence: the probability the model gives to each letter A-D, read from its next-token prediction, with no </a:t>
            </a:r>
            <a:r>
              <a:rPr lang="en-GB">
                <a:solidFill>
                  <a:schemeClr val="dk1"/>
                </a:solidFill>
              </a:rPr>
              <a:t>free-text generation</a:t>
            </a:r>
            <a:r>
              <a:rPr lang="en-GB">
                <a:solidFill>
                  <a:schemeClr val="dk1"/>
                </a:solidFill>
              </a:rPr>
              <a: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Abstention: to be done. Planning to add fifth option.</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and practical choices</a:t>
            </a:r>
            <a:endParaRPr/>
          </a:p>
        </p:txBody>
      </p:sp>
      <p:sp>
        <p:nvSpPr>
          <p:cNvPr id="221" name="Google Shape;221;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598 emotion questions over 153 films; 1 question dropped because its clip runs past the end of the video file.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Video-transcript sync checked across whole films: 166/168 films are exactly aligned.</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Each MoMentS question lists the cues that annotators judged relevant (face, body, speech).</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Cue imbalance: 86% of questions are tagged face/body and only about 5% are speech-only, so there is little contrast.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64 frames as in the MoMentS paper, reduced to 448x252 pixels so it runs on a CPU (about 80 s per question).</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accuracy</a:t>
            </a:r>
            <a:endParaRPr/>
          </a:p>
        </p:txBody>
      </p:sp>
      <p:sp>
        <p:nvSpPr>
          <p:cNvPr id="227" name="Google Shape;227;p40"/>
          <p:cNvSpPr txBox="1"/>
          <p:nvPr>
            <p:ph idx="1" type="body"/>
          </p:nvPr>
        </p:nvSpPr>
        <p:spPr>
          <a:xfrm>
            <a:off x="278775" y="1152475"/>
            <a:ext cx="3985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GB">
                <a:solidFill>
                  <a:schemeClr val="dk1"/>
                </a:solidFill>
              </a:rPr>
              <a:t>T 53.2% vs VT 55.6%</a:t>
            </a:r>
            <a:r>
              <a:rPr lang="en-GB">
                <a:solidFill>
                  <a:schemeClr val="dk1"/>
                </a:solidFill>
              </a:rPr>
              <a:t> (95% CI roughly +-4.6 points)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Video fixed 46 answers and broke</a:t>
            </a:r>
            <a:r>
              <a:rPr lang="en-GB">
                <a:solidFill>
                  <a:schemeClr val="dk1"/>
                </a:solidFill>
              </a:rPr>
              <a:t> 35, which is not significant</a:t>
            </a:r>
            <a:r>
              <a:rPr lang="en-GB">
                <a:solidFill>
                  <a:schemeClr val="dk1"/>
                </a:solidFill>
              </a:rPr>
              <a:t>, p = 0.32 for McNemar's test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Both conditions give the same answer on 75% of questions.</a:t>
            </a:r>
            <a:endParaRPr>
              <a:solidFill>
                <a:schemeClr val="dk1"/>
              </a:solidFill>
            </a:endParaRPr>
          </a:p>
        </p:txBody>
      </p:sp>
      <p:pic>
        <p:nvPicPr>
          <p:cNvPr id="228" name="Google Shape;228;p40"/>
          <p:cNvPicPr preferRelativeResize="0"/>
          <p:nvPr/>
        </p:nvPicPr>
        <p:blipFill>
          <a:blip r:embed="rId4">
            <a:alphaModFix/>
          </a:blip>
          <a:stretch>
            <a:fillRect/>
          </a:stretch>
        </p:blipFill>
        <p:spPr>
          <a:xfrm>
            <a:off x="4436675" y="773526"/>
            <a:ext cx="4395625" cy="35964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confidence</a:t>
            </a:r>
            <a:endParaRPr/>
          </a:p>
        </p:txBody>
      </p:sp>
      <p:sp>
        <p:nvSpPr>
          <p:cNvPr id="234" name="Google Shape;234;p41"/>
          <p:cNvSpPr txBox="1"/>
          <p:nvPr>
            <p:ph idx="1" type="body"/>
          </p:nvPr>
        </p:nvSpPr>
        <p:spPr>
          <a:xfrm>
            <a:off x="311700" y="1152475"/>
            <a:ext cx="8411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Confidence is higher with video</a:t>
            </a:r>
            <a:r>
              <a:rPr lang="en-GB">
                <a:solidFill>
                  <a:schemeClr val="dk1"/>
                </a:solidFill>
              </a:rPr>
              <a:t>: mean 0.79 vs 0.75, paired test p &lt; 0.001.</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On face/body questions: T 0.76 vs VT 0.80.</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Direction matches the hypothesis, but the effect is small: the median shift is +0.02.</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Without video the model is still confident</a:t>
            </a:r>
            <a:endParaRPr>
              <a:solidFill>
                <a:schemeClr val="dk1"/>
              </a:solidFill>
            </a:endParaRPr>
          </a:p>
        </p:txBody>
      </p:sp>
      <p:pic>
        <p:nvPicPr>
          <p:cNvPr id="235" name="Google Shape;235;p41"/>
          <p:cNvPicPr preferRelativeResize="0"/>
          <p:nvPr/>
        </p:nvPicPr>
        <p:blipFill>
          <a:blip r:embed="rId4">
            <a:alphaModFix/>
          </a:blip>
          <a:stretch>
            <a:fillRect/>
          </a:stretch>
        </p:blipFill>
        <p:spPr>
          <a:xfrm>
            <a:off x="1925525" y="2824200"/>
            <a:ext cx="5292948" cy="21657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the critical failure</a:t>
            </a:r>
            <a:endParaRPr/>
          </a:p>
        </p:txBody>
      </p:sp>
      <p:sp>
        <p:nvSpPr>
          <p:cNvPr id="241" name="Google Shape;241;p42"/>
          <p:cNvSpPr txBox="1"/>
          <p:nvPr>
            <p:ph idx="1" type="body"/>
          </p:nvPr>
        </p:nvSpPr>
        <p:spPr>
          <a:xfrm>
            <a:off x="311700" y="1152475"/>
            <a:ext cx="8411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Wrong with confidence &gt;= 0.8: T 16.0% of all questions, VT 16.6%.</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242" name="Google Shape;242;p42"/>
          <p:cNvPicPr preferRelativeResize="0"/>
          <p:nvPr/>
        </p:nvPicPr>
        <p:blipFill>
          <a:blip r:embed="rId3">
            <a:alphaModFix/>
          </a:blip>
          <a:stretch>
            <a:fillRect/>
          </a:stretch>
        </p:blipFill>
        <p:spPr>
          <a:xfrm>
            <a:off x="2765775" y="1870950"/>
            <a:ext cx="3612449" cy="29556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the critical failure</a:t>
            </a:r>
            <a:endParaRPr/>
          </a:p>
        </p:txBody>
      </p:sp>
      <p:sp>
        <p:nvSpPr>
          <p:cNvPr id="248" name="Google Shape;248;p43"/>
          <p:cNvSpPr txBox="1"/>
          <p:nvPr>
            <p:ph idx="1" type="body"/>
          </p:nvPr>
        </p:nvSpPr>
        <p:spPr>
          <a:xfrm>
            <a:off x="311700" y="1152475"/>
            <a:ext cx="8411400" cy="34164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Clr>
                <a:schemeClr val="dk1"/>
              </a:buClr>
              <a:buSzPct val="100000"/>
              <a:buChar char="●"/>
            </a:pPr>
            <a:r>
              <a:rPr lang="en-GB">
                <a:solidFill>
                  <a:schemeClr val="dk1"/>
                </a:solidFill>
              </a:rPr>
              <a:t>Wrong with confidence &gt;= 0.8: T 16.0% of all questions, VT 16.6%.</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Face/body questions: T 15.3%, VT 16.3%, so no drop when the video is given.</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Overconfident in both conditions: calibration error (ECE) is 0.22 (T) and 0.24 (VT).</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Examples where T was &gt;= 0.9 confident and wrong, and VT answered correctly:</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THIS IS 25: "How is the woman feeling on the phone with her mom?" T answered "nervous, trying to hide it" (0.93); VT answered correctly "sad but smiles to hide it" (0.51).</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PEOPLE IN CARS: "Why does the man with glasses compare himself to Peter?" T answered "surprised how much they look alike" (0.95); VT answered correctly "he desires the blonde woman" (0.62).</a:t>
            </a:r>
            <a:endParaRPr>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the critical failure</a:t>
            </a:r>
            <a:endParaRPr/>
          </a:p>
        </p:txBody>
      </p:sp>
      <p:sp>
        <p:nvSpPr>
          <p:cNvPr id="254" name="Google Shape;254;p44"/>
          <p:cNvSpPr txBox="1"/>
          <p:nvPr>
            <p:ph idx="1" type="body"/>
          </p:nvPr>
        </p:nvSpPr>
        <p:spPr>
          <a:xfrm>
            <a:off x="311700" y="1152475"/>
            <a:ext cx="8411400" cy="34164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Clr>
                <a:schemeClr val="dk1"/>
              </a:buClr>
              <a:buSzPct val="100000"/>
              <a:buChar char="●"/>
            </a:pPr>
            <a:r>
              <a:rPr lang="en-GB">
                <a:solidFill>
                  <a:schemeClr val="dk1"/>
                </a:solidFill>
              </a:rPr>
              <a:t>Wrong with confidence &gt;= 0.8: T 16.0% of all questions, VT 16.6%.</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Face/body questions: T 15.3%, VT 16.3%, so no drop when the video is given.</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Overconfident in both conditions: calibration error (ECE) is 0.22 (T) and 0.24 (VT).</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Examples where T was &gt;= 0.9 confident and wrong, and VT answered correctly:</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THIS IS 25: "How is the woman feeling on the phone with her mom?" T answered "nervous, trying to hide it" (0.93); VT answered correctly "sad but smiles to hide it" (0.51).</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PEOPLE IN CARS: "Why does the man with glasses compare himself to Peter?" T answered "surprised how much they look alike" (0.95); VT answered correctly "he desires the blonde woman" (0.62).</a:t>
            </a:r>
            <a:endParaRPr>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Takeaways and limitations</a:t>
            </a:r>
            <a:endParaRPr/>
          </a:p>
        </p:txBody>
      </p:sp>
      <p:sp>
        <p:nvSpPr>
          <p:cNvPr id="260" name="Google Shape;260;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Hypothesis only partly supported: on visual questions T is a little less confident, but it is confidently wrong as often as VT.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Main limitation: 86% of emotion questions are tagged as needing face/body cues, so the comparison group without visual cues is small (65 questions).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Tagging was optional, so a missing tag is weaker evidence than a present one; 42 questions have no cue field at all.</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One model, one resolution, no audio, and abstention is only simulated after the run.</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Pilot numbers are partial (457/598), and I'll finish the run.</a:t>
            </a:r>
            <a:endParaRPr>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a:t>
            </a:r>
            <a:endParaRPr/>
          </a:p>
        </p:txBody>
      </p:sp>
      <p:sp>
        <p:nvSpPr>
          <p:cNvPr id="266" name="Google Shape;266;p46"/>
          <p:cNvSpPr txBox="1"/>
          <p:nvPr>
            <p:ph idx="1" type="body"/>
          </p:nvPr>
        </p:nvSpPr>
        <p:spPr>
          <a:xfrm>
            <a:off x="311700" y="1152475"/>
            <a:ext cx="8520600" cy="37653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Char char="●"/>
            </a:pPr>
            <a:r>
              <a:rPr lang="en-GB">
                <a:solidFill>
                  <a:schemeClr val="dk1"/>
                </a:solidFill>
              </a:rPr>
              <a:t>Theoretical</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keep asking ourselves how this supports the "underdetermination of emotions and epistemic humility" thesis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What do you mean? significant as in "statistically significant"? </a:t>
            </a:r>
            <a:br>
              <a:rPr lang="en-GB">
                <a:solidFill>
                  <a:schemeClr val="dk1"/>
                </a:solidFill>
              </a:rPr>
            </a:br>
            <a:r>
              <a:rPr lang="en-GB">
                <a:solidFill>
                  <a:schemeClr val="dk1"/>
                </a:solidFill>
              </a:rPr>
              <a:t>This could be very informative to me, because if you analyze the 35 broken answers you could for example find that some type of evidence that humans deemed necessary misleads the model</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Ablation</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Reasoning traces. To understand what is the contribution to the video. Can we understand the reason behind the model selection the video. What if we mess the question-video pair, what happens or pixel the fase? Same acc and conf?</a:t>
            </a:r>
            <a:endParaRPr>
              <a:solidFill>
                <a:schemeClr val="dk1"/>
              </a:solidFill>
            </a:endParaRPr>
          </a:p>
          <a:p>
            <a:pPr indent="-317500" lvl="2" marL="1371600" rtl="0" algn="l">
              <a:spcBef>
                <a:spcPts val="0"/>
              </a:spcBef>
              <a:spcAft>
                <a:spcPts val="0"/>
              </a:spcAft>
              <a:buClr>
                <a:schemeClr val="dk1"/>
              </a:buClr>
              <a:buSzPts val="1400"/>
              <a:buChar char="■"/>
            </a:pPr>
            <a:r>
              <a:rPr lang="en-GB">
                <a:solidFill>
                  <a:schemeClr val="dk1"/>
                </a:solidFill>
              </a:rPr>
              <a:t>Ex: model says: i look at face at that moment and make the answer based on that</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Take a look at the papers from conference. Use template to start writing</a:t>
            </a:r>
            <a:br>
              <a:rPr lang="en-GB">
                <a:solidFill>
                  <a:schemeClr val="dk1"/>
                </a:solidFill>
              </a:rPr>
            </a:br>
            <a:r>
              <a:rPr lang="en-GB">
                <a:solidFill>
                  <a:schemeClr val="dk1"/>
                </a:solidFill>
              </a:rPr>
              <a:t>https://www.computer.org/csdl/journal/ta</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a:t>
            </a:r>
            <a:endParaRPr/>
          </a:p>
        </p:txBody>
      </p:sp>
      <p:sp>
        <p:nvSpPr>
          <p:cNvPr id="272" name="Google Shape;272;p47"/>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dk1"/>
                </a:solidFill>
              </a:rPr>
              <a:t>Technical</a:t>
            </a:r>
            <a:endParaRPr>
              <a:solidFill>
                <a:schemeClr val="dk1"/>
              </a:solidFill>
            </a:endParaRPr>
          </a:p>
          <a:p>
            <a:pPr indent="-317500" lvl="1" marL="914400" rtl="0" algn="l">
              <a:spcBef>
                <a:spcPts val="1200"/>
              </a:spcBef>
              <a:spcAft>
                <a:spcPts val="0"/>
              </a:spcAft>
              <a:buClr>
                <a:schemeClr val="dk1"/>
              </a:buClr>
              <a:buSzPts val="1400"/>
              <a:buChar char="○"/>
            </a:pPr>
            <a:r>
              <a:rPr lang="en-GB">
                <a:solidFill>
                  <a:schemeClr val="dk1"/>
                </a:solidFill>
              </a:rPr>
              <a:t>GPU access. </a:t>
            </a:r>
            <a:br>
              <a:rPr lang="en-GB">
                <a:solidFill>
                  <a:schemeClr val="dk1"/>
                </a:solidFill>
              </a:rPr>
            </a:br>
            <a:r>
              <a:rPr lang="en-GB" u="sng">
                <a:solidFill>
                  <a:schemeClr val="hlink"/>
                </a:solidFill>
                <a:hlinkClick r:id="rId3"/>
              </a:rPr>
              <a:t>https://my.csc.fi/welcome</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Add a question-only condition as a floor (no transcript, no video).</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Explicit abstention: add an "E: cannot tell from the given information" option, or ask for a verbal confidence rating.</a:t>
            </a:r>
            <a:endParaRPr>
              <a:solidFill>
                <a:schemeClr val="dk1"/>
              </a:solidFill>
            </a:endParaRPr>
          </a:p>
          <a:p>
            <a:pPr indent="-317500" lvl="2" marL="1371600" rtl="0" algn="l">
              <a:spcBef>
                <a:spcPts val="0"/>
              </a:spcBef>
              <a:spcAft>
                <a:spcPts val="0"/>
              </a:spcAft>
              <a:buClr>
                <a:schemeClr val="dk1"/>
              </a:buClr>
              <a:buSzPts val="1400"/>
              <a:buChar char="■"/>
            </a:pPr>
            <a:r>
              <a:rPr lang="en-GB">
                <a:solidFill>
                  <a:schemeClr val="dk1"/>
                </a:solidFill>
              </a:rPr>
              <a:t>If option E is </a:t>
            </a:r>
            <a:r>
              <a:rPr lang="en-GB">
                <a:solidFill>
                  <a:schemeClr val="dk1"/>
                </a:solidFill>
              </a:rPr>
              <a:t>chosen</a:t>
            </a:r>
            <a:r>
              <a:rPr lang="en-GB">
                <a:solidFill>
                  <a:schemeClr val="dk1"/>
                </a:solidFill>
              </a:rPr>
              <a:t> provide </a:t>
            </a:r>
            <a:r>
              <a:rPr lang="en-GB">
                <a:solidFill>
                  <a:schemeClr val="dk1"/>
                </a:solidFill>
              </a:rPr>
              <a:t>reasoning</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More models: another audiovisual model, plus one larger model through an API -?</a:t>
            </a:r>
            <a:endParaRPr>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Projects planning</a:t>
            </a:r>
            <a:endParaRPr/>
          </a:p>
        </p:txBody>
      </p:sp>
      <p:sp>
        <p:nvSpPr>
          <p:cNvPr id="278" name="Google Shape;278;p4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14.09.2026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Agenda</a:t>
            </a:r>
            <a:endParaRPr/>
          </a:p>
        </p:txBody>
      </p:sp>
      <p:sp>
        <p:nvSpPr>
          <p:cNvPr id="284" name="Google Shape;284;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AI Alignment. Davide paper.</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Agree on the </a:t>
            </a:r>
            <a:r>
              <a:rPr lang="en-GB">
                <a:solidFill>
                  <a:schemeClr val="dk1"/>
                </a:solidFill>
              </a:rPr>
              <a:t>proposed</a:t>
            </a:r>
            <a:r>
              <a:rPr lang="en-GB">
                <a:solidFill>
                  <a:schemeClr val="dk1"/>
                </a:solidFill>
              </a:rPr>
              <a:t> scope so I could start </a:t>
            </a:r>
            <a:r>
              <a:rPr lang="en-GB">
                <a:solidFill>
                  <a:schemeClr val="dk1"/>
                </a:solidFill>
              </a:rPr>
              <a:t>implementation</a:t>
            </a:r>
            <a:r>
              <a:rPr lang="en-GB">
                <a:solidFill>
                  <a:schemeClr val="dk1"/>
                </a:solidFill>
              </a:rPr>
              <a:t> </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AI Opinion</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Discuss current project scope and benchmark spec</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Other questions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Claude for Researches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API costs</a:t>
            </a:r>
            <a:endParaRPr>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Alignment paper: blocker resolved</a:t>
            </a:r>
            <a:endParaRPr/>
          </a:p>
        </p:txBody>
      </p:sp>
      <p:sp>
        <p:nvSpPr>
          <p:cNvPr id="290" name="Google Shape;290;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Goal: add empirical support to the audiovisual social-understanding paper</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Dataset: Social-IQ 2.0 + Social-IQ 2.0 Sub</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Found peer-reviewed source for the Sub annotations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Labels are usable as a starting point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Remaining caveat: “unanswerable from transcript/video” is still subjective</a:t>
            </a:r>
            <a:endParaRPr>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Alignment paper: experiment to run</a:t>
            </a:r>
            <a:endParaRPr/>
          </a:p>
        </p:txBody>
      </p:sp>
      <p:sp>
        <p:nvSpPr>
          <p:cNvPr id="296" name="Google Shape;296;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RQ: </a:t>
            </a:r>
            <a:r>
              <a:rPr b="1" lang="en-GB">
                <a:solidFill>
                  <a:schemeClr val="dk1"/>
                </a:solidFill>
              </a:rPr>
              <a:t>Do current audiovisual models benefit from nonverbal evidence specifically when humans need it?</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Compare questions humans can answer from language with questions requiring video/nonverbal evidence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Main conditions: question-only, transcript, audiovisual input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Test recent native audiovisual models (rather than older frame-caption pipelines like in other papers)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Aim: small empirical extension supporting the claims of the existing position paper</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Journal: Transactions of affective computing</a:t>
            </a:r>
            <a:endParaRPr>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From ARENA</a:t>
            </a:r>
            <a:endParaRPr/>
          </a:p>
        </p:txBody>
      </p:sp>
      <p:sp>
        <p:nvSpPr>
          <p:cNvPr id="302" name="Google Shape;302;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solidFill>
                <a:schemeClr val="dk1"/>
              </a:solidFill>
            </a:endParaRPr>
          </a:p>
        </p:txBody>
      </p:sp>
      <p:pic>
        <p:nvPicPr>
          <p:cNvPr id="303" name="Google Shape;303;p52"/>
          <p:cNvPicPr preferRelativeResize="0"/>
          <p:nvPr/>
        </p:nvPicPr>
        <p:blipFill>
          <a:blip r:embed="rId3">
            <a:alphaModFix/>
          </a:blip>
          <a:stretch>
            <a:fillRect/>
          </a:stretch>
        </p:blipFill>
        <p:spPr>
          <a:xfrm>
            <a:off x="0" y="1622971"/>
            <a:ext cx="9144003" cy="189755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project: current research object</a:t>
            </a:r>
            <a:endParaRPr/>
          </a:p>
        </p:txBody>
      </p:sp>
      <p:sp>
        <p:nvSpPr>
          <p:cNvPr id="309" name="Google Shape;309;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Core distinction: </a:t>
            </a:r>
            <a:r>
              <a:rPr b="1" lang="en-GB">
                <a:solidFill>
                  <a:schemeClr val="dk1"/>
                </a:solidFill>
              </a:rPr>
              <a:t>what I believe</a:t>
            </a:r>
            <a:r>
              <a:rPr lang="en-GB">
                <a:solidFill>
                  <a:schemeClr val="dk1"/>
                </a:solidFill>
              </a:rPr>
              <a:t> is not necessarily what </a:t>
            </a:r>
            <a:r>
              <a:rPr b="1" lang="en-GB">
                <a:solidFill>
                  <a:schemeClr val="dk1"/>
                </a:solidFill>
              </a:rPr>
              <a:t>I want AI to do</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Domain: personal AI assistant helping with public-policy questions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Focus is not “AI has opinions”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Focus is user preference over assistant response objective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Object is the conversational objective the </a:t>
            </a:r>
            <a:r>
              <a:rPr b="1" lang="en-GB">
                <a:solidFill>
                  <a:schemeClr val="dk1"/>
                </a:solidFill>
              </a:rPr>
              <a:t>user wants the assistant to pursue</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Benchmark/eval, not the user study</a:t>
            </a:r>
            <a:endParaRPr>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target property</a:t>
            </a:r>
            <a:endParaRPr/>
          </a:p>
        </p:txBody>
      </p:sp>
      <p:sp>
        <p:nvSpPr>
          <p:cNvPr id="315" name="Google Shape;315;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GB">
                <a:solidFill>
                  <a:schemeClr val="dk1"/>
                </a:solidFill>
              </a:rPr>
              <a:t>Within-person inference of preferred AI response policy</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Same user's previous feedback is provided as context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New issue: user's position and reasons are visible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Hidden target: preferred AI response policy for this issue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Measures preference inference, not memory retrieval or policy execution</a:t>
            </a:r>
            <a:endParaRPr>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response-policy instrument</a:t>
            </a:r>
            <a:endParaRPr/>
          </a:p>
        </p:txBody>
      </p:sp>
      <p:sp>
        <p:nvSpPr>
          <p:cNvPr id="321" name="Google Shape;321;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rgbClr val="188038"/>
                </a:solidFill>
              </a:rPr>
              <a:t>case_for_view</a:t>
            </a:r>
            <a:r>
              <a:rPr lang="en-GB">
                <a:solidFill>
                  <a:schemeClr val="dk1"/>
                </a:solidFill>
              </a:rPr>
              <a:t>: strongest defensible case for my position</a:t>
            </a:r>
            <a:endParaRPr>
              <a:solidFill>
                <a:schemeClr val="dk1"/>
              </a:solidFill>
            </a:endParaRPr>
          </a:p>
          <a:p>
            <a:pPr indent="-342900" lvl="0" marL="457200" rtl="0" algn="l">
              <a:spcBef>
                <a:spcPts val="0"/>
              </a:spcBef>
              <a:spcAft>
                <a:spcPts val="0"/>
              </a:spcAft>
              <a:buClr>
                <a:schemeClr val="dk1"/>
              </a:buClr>
              <a:buSzPts val="1800"/>
              <a:buChar char="●"/>
            </a:pPr>
            <a:r>
              <a:rPr lang="en-GB">
                <a:solidFill>
                  <a:srgbClr val="188038"/>
                </a:solidFill>
              </a:rPr>
              <a:t>compare</a:t>
            </a:r>
            <a:r>
              <a:rPr lang="en-GB">
                <a:solidFill>
                  <a:schemeClr val="dk1"/>
                </a:solidFill>
              </a:rPr>
              <a:t>: compare alternatives without recommending</a:t>
            </a:r>
            <a:endParaRPr>
              <a:solidFill>
                <a:schemeClr val="dk1"/>
              </a:solidFill>
            </a:endParaRPr>
          </a:p>
          <a:p>
            <a:pPr indent="-342900" lvl="0" marL="457200" rtl="0" algn="l">
              <a:spcBef>
                <a:spcPts val="0"/>
              </a:spcBef>
              <a:spcAft>
                <a:spcPts val="0"/>
              </a:spcAft>
              <a:buClr>
                <a:schemeClr val="dk1"/>
              </a:buClr>
              <a:buSzPts val="1800"/>
              <a:buChar char="●"/>
            </a:pPr>
            <a:r>
              <a:rPr lang="en-GB">
                <a:solidFill>
                  <a:srgbClr val="188038"/>
                </a:solidFill>
              </a:rPr>
              <a:t>scrutinize</a:t>
            </a:r>
            <a:r>
              <a:rPr lang="en-GB">
                <a:solidFill>
                  <a:schemeClr val="dk1"/>
                </a:solidFill>
              </a:rPr>
              <a:t>: examine weaknesses in my reasoning</a:t>
            </a:r>
            <a:endParaRPr>
              <a:solidFill>
                <a:schemeClr val="dk1"/>
              </a:solidFill>
            </a:endParaRPr>
          </a:p>
          <a:p>
            <a:pPr indent="-342900" lvl="0" marL="457200" rtl="0" algn="l">
              <a:spcBef>
                <a:spcPts val="0"/>
              </a:spcBef>
              <a:spcAft>
                <a:spcPts val="0"/>
              </a:spcAft>
              <a:buClr>
                <a:schemeClr val="dk1"/>
              </a:buClr>
              <a:buSzPts val="1800"/>
              <a:buChar char="●"/>
            </a:pPr>
            <a:r>
              <a:rPr lang="en-GB">
                <a:solidFill>
                  <a:srgbClr val="188038"/>
                </a:solidFill>
              </a:rPr>
              <a:t>recommend</a:t>
            </a:r>
            <a:r>
              <a:rPr lang="en-GB">
                <a:solidFill>
                  <a:schemeClr val="dk1"/>
                </a:solidFill>
              </a:rPr>
              <a:t>: give an independent recommendation</a:t>
            </a:r>
            <a:endParaRPr>
              <a:solidFill>
                <a:schemeClr val="dk1"/>
              </a:solidFill>
            </a:endParaRPr>
          </a:p>
          <a:p>
            <a:pPr indent="-342900" lvl="0" marL="457200" rtl="0" algn="l">
              <a:spcBef>
                <a:spcPts val="0"/>
              </a:spcBef>
              <a:spcAft>
                <a:spcPts val="0"/>
              </a:spcAft>
              <a:buClr>
                <a:schemeClr val="dk1"/>
              </a:buClr>
              <a:buSzPts val="1800"/>
              <a:buChar char="●"/>
            </a:pPr>
            <a:r>
              <a:rPr b="1" lang="en-GB">
                <a:solidFill>
                  <a:schemeClr val="dk1"/>
                </a:solidFill>
              </a:rPr>
              <a:t>Primary objective of the next response</a:t>
            </a:r>
            <a:r>
              <a:rPr lang="en-GB">
                <a:solidFill>
                  <a:schemeClr val="dk1"/>
                </a:solidFill>
              </a:rPr>
              <a:t>, with comparable quality across policies</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en-GB">
                <a:solidFill>
                  <a:schemeClr val="dk1"/>
                </a:solidFill>
              </a:rPr>
              <a:t>Categories themselves need human validation from the pilot study</a:t>
            </a:r>
            <a:endParaRPr>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human data and evaluation setup</a:t>
            </a:r>
            <a:endParaRPr/>
          </a:p>
        </p:txBody>
      </p:sp>
      <p:sp>
        <p:nvSpPr>
          <p:cNvPr id="327" name="Google Shape;327;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Repeated public-policy questions for each participant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Collect </a:t>
            </a:r>
            <a:r>
              <a:rPr b="1" lang="en-GB">
                <a:solidFill>
                  <a:schemeClr val="dk1"/>
                </a:solidFill>
              </a:rPr>
              <a:t>position + reasons first</a:t>
            </a:r>
            <a:r>
              <a:rPr lang="en-GB">
                <a:solidFill>
                  <a:schemeClr val="dk1"/>
                </a:solidFill>
              </a:rPr>
              <a:t>, then response-policy preference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Model receives five previous feedback records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Predict preference on held-out questions from the same participant</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threat model</a:t>
            </a:r>
            <a:endParaRPr/>
          </a:p>
        </p:txBody>
      </p:sp>
      <p:sp>
        <p:nvSpPr>
          <p:cNvPr id="333" name="Google Shape;333;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Context: persistent personal assistant helping with public-policy deliberation</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Assistant uses previous feedback to infer the desired response objective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Failure: predicted objective differs from the participant's top-preferred objective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Example: advocacy when comparison is top-preferred</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Measured: preference-prediction mismatch</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Not measured: persuasion, harm, autonomy, or downstream decisions</a:t>
            </a:r>
            <a:endParaRPr>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current status and open design decision</a:t>
            </a:r>
            <a:endParaRPr/>
          </a:p>
        </p:txBody>
      </p:sp>
      <p:sp>
        <p:nvSpPr>
          <p:cNvPr id="339" name="Google Shape;339;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Detailed benchmark specification completed and adversarially reviewed</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No blocking conceptual issue for creating the first prototype items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Main novelty must come from </a:t>
            </a:r>
            <a:r>
              <a:rPr b="1" lang="en-GB">
                <a:solidFill>
                  <a:schemeClr val="dk1"/>
                </a:solidFill>
              </a:rPr>
              <a:t>stance + desired-response pairing</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Key open issue: stated policy preference may differ from preference over actual responses</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conferences</a:t>
            </a:r>
            <a:endParaRPr/>
          </a:p>
        </p:txBody>
      </p:sp>
      <p:sp>
        <p:nvSpPr>
          <p:cNvPr id="345" name="Google Shape;345;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100">
                <a:solidFill>
                  <a:schemeClr val="dk1"/>
                </a:solidFill>
              </a:rPr>
              <a:t>ACL 2027 — primary option</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Strong fit for LLM personalization, alignment, preference prediction, and evaluation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Final eligible ARR cycle: </a:t>
            </a:r>
            <a:r>
              <a:rPr b="1" lang="en-GB" sz="1100">
                <a:solidFill>
                  <a:schemeClr val="dk1"/>
                </a:solidFill>
              </a:rPr>
              <a:t>January 2027</a:t>
            </a:r>
            <a:r>
              <a:rPr lang="en-GB" sz="1100">
                <a:solidFill>
                  <a:schemeClr val="dk1"/>
                </a:solidFill>
              </a:rPr>
              <a:t>; exact date TBA</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Enough time for pilot, human data collection, benchmark experiments, and analysis</a:t>
            </a:r>
            <a:endParaRPr sz="1100">
              <a:solidFill>
                <a:schemeClr val="dk1"/>
              </a:solidFill>
            </a:endParaRPr>
          </a:p>
          <a:p>
            <a:pPr indent="0" lvl="0" marL="0" rtl="0" algn="l">
              <a:spcBef>
                <a:spcPts val="1200"/>
              </a:spcBef>
              <a:spcAft>
                <a:spcPts val="0"/>
              </a:spcAft>
              <a:buNone/>
            </a:pPr>
            <a:r>
              <a:rPr b="1" lang="en-GB" sz="1100">
                <a:solidFill>
                  <a:schemeClr val="dk1"/>
                </a:solidFill>
              </a:rPr>
              <a:t>NeurIPS 2027 — Evaluations &amp; Datasets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Excellent fit if the benchmark/evaluation contribution remains central</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2027 deadline not announced yet; 2026 deadline was </a:t>
            </a:r>
            <a:r>
              <a:rPr b="1" lang="en-GB" sz="1100">
                <a:solidFill>
                  <a:schemeClr val="dk1"/>
                </a:solidFill>
              </a:rPr>
              <a:t>May 6</a:t>
            </a:r>
            <a:endParaRPr b="1"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More time to build a stronger dataset and evaluation</a:t>
            </a:r>
            <a:endParaRPr sz="1100">
              <a:solidFill>
                <a:schemeClr val="dk1"/>
              </a:solidFill>
            </a:endParaRPr>
          </a:p>
          <a:p>
            <a:pPr indent="0" lvl="0" marL="0" rtl="0" algn="l">
              <a:spcBef>
                <a:spcPts val="1200"/>
              </a:spcBef>
              <a:spcAft>
                <a:spcPts val="0"/>
              </a:spcAft>
              <a:buNone/>
            </a:pPr>
            <a:r>
              <a:rPr b="1" lang="en-GB" sz="1100">
                <a:solidFill>
                  <a:schemeClr val="dk1"/>
                </a:solidFill>
              </a:rPr>
              <a:t>NAACL 2027 — aggressive option</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Good fit: benchmarks, evaluation, safety/alignment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ARR deadline: </a:t>
            </a:r>
            <a:r>
              <a:rPr b="1" lang="en-GB" sz="1100">
                <a:solidFill>
                  <a:schemeClr val="dk1"/>
                </a:solidFill>
              </a:rPr>
              <a:t>12 October 2026</a:t>
            </a:r>
            <a:endParaRPr b="1"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Probably too early for a properly validated human study</a:t>
            </a:r>
            <a:endParaRPr>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Other</a:t>
            </a:r>
            <a:endParaRPr/>
          </a:p>
        </p:txBody>
      </p:sp>
      <p:sp>
        <p:nvSpPr>
          <p:cNvPr id="351" name="Google Shape;351;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solidFill>
                  <a:schemeClr val="dk1"/>
                </a:solidFill>
              </a:rPr>
              <a:t>Anthropic currently has a Claude Team program for academic research groups where PIs can add PhD students and researchers. Standard seats are free for 12 months. Our field is eligible, although they currently say promotional capacity for CS/AI has been reached. The application is still open, so I thought it might still be worth applying in case more capacity becomes available: </a:t>
            </a:r>
            <a:r>
              <a:rPr lang="en-GB" u="sng">
                <a:solidFill>
                  <a:schemeClr val="hlink"/>
                </a:solidFill>
                <a:hlinkClick r:id="rId3"/>
              </a:rPr>
              <a:t>https://claude.ai/labs-verification/attestation</a:t>
            </a:r>
            <a:r>
              <a:rPr lang="en-GB">
                <a:solidFill>
                  <a:schemeClr val="dk1"/>
                </a:solidFill>
              </a:rPr>
              <a:t> </a:t>
            </a:r>
            <a:endParaRPr>
              <a:solidFill>
                <a:schemeClr val="dk1"/>
              </a:solidFill>
            </a:endParaRPr>
          </a:p>
          <a:p>
            <a:pPr indent="0" lvl="0" marL="457200" rtl="0" algn="l">
              <a:spcBef>
                <a:spcPts val="1200"/>
              </a:spcBef>
              <a:spcAft>
                <a:spcPts val="0"/>
              </a:spcAft>
              <a:buNone/>
            </a:pPr>
            <a:r>
              <a:rPr lang="en-GB">
                <a:solidFill>
                  <a:schemeClr val="dk1"/>
                </a:solidFill>
              </a:rPr>
              <a:t>Description: </a:t>
            </a:r>
            <a:r>
              <a:rPr lang="en-GB" u="sng">
                <a:solidFill>
                  <a:schemeClr val="hlink"/>
                </a:solidFill>
                <a:hlinkClick r:id="rId4"/>
              </a:rPr>
              <a:t>https://claude.com/programs/team-plan-for-scientists#pricing</a:t>
            </a:r>
            <a:r>
              <a:rPr lang="en-GB">
                <a:solidFill>
                  <a:schemeClr val="dk1"/>
                </a:solidFill>
              </a:rPr>
              <a:t> </a:t>
            </a:r>
            <a:endParaRPr>
              <a:solidFill>
                <a:schemeClr val="dk1"/>
              </a:solidFill>
            </a:endParaRPr>
          </a:p>
          <a:p>
            <a:pPr indent="-342900" lvl="0" marL="457200" rtl="0" algn="l">
              <a:spcBef>
                <a:spcPts val="1200"/>
              </a:spcBef>
              <a:spcAft>
                <a:spcPts val="0"/>
              </a:spcAft>
              <a:buClr>
                <a:schemeClr val="dk1"/>
              </a:buClr>
              <a:buSzPts val="1800"/>
              <a:buChar char="●"/>
            </a:pPr>
            <a:r>
              <a:rPr lang="en-GB">
                <a:solidFill>
                  <a:schemeClr val="dk1"/>
                </a:solidFill>
              </a:rPr>
              <a:t>Is that possible to somehow use </a:t>
            </a:r>
            <a:r>
              <a:rPr lang="en-GB">
                <a:solidFill>
                  <a:schemeClr val="dk1"/>
                </a:solidFill>
              </a:rPr>
              <a:t>university</a:t>
            </a:r>
            <a:r>
              <a:rPr lang="en-GB">
                <a:solidFill>
                  <a:schemeClr val="dk1"/>
                </a:solidFill>
              </a:rPr>
              <a:t> budget for API calls to the models</a:t>
            </a:r>
            <a:endParaRPr>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TODO</a:t>
            </a:r>
            <a:endParaRPr/>
          </a:p>
        </p:txBody>
      </p:sp>
      <p:sp>
        <p:nvSpPr>
          <p:cNvPr id="357" name="Google Shape;357;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Qijia feedback</a:t>
            </a:r>
            <a:endParaRPr>
              <a:solidFill>
                <a:schemeClr val="dk1"/>
              </a:solidFill>
            </a:endParaRPr>
          </a:p>
          <a:p>
            <a:pPr indent="-342900" lvl="0" marL="457200" rtl="0" algn="l">
              <a:spcBef>
                <a:spcPts val="0"/>
              </a:spcBef>
              <a:spcAft>
                <a:spcPts val="0"/>
              </a:spcAft>
              <a:buClr>
                <a:schemeClr val="dk1"/>
              </a:buClr>
              <a:buSzPts val="1800"/>
              <a:buChar char="●"/>
            </a:pPr>
            <a:r>
              <a:rPr b="1" lang="en-GB">
                <a:solidFill>
                  <a:schemeClr val="dk1"/>
                </a:solidFill>
              </a:rPr>
              <a:t>AI Alignment:</a:t>
            </a:r>
            <a:r>
              <a:rPr lang="en-GB">
                <a:solidFill>
                  <a:schemeClr val="dk1"/>
                </a:solidFill>
              </a:rPr>
              <a:t> run the first model evaluations on Social-IQ 2.0 Sub</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Compare </a:t>
            </a:r>
            <a:r>
              <a:rPr b="1" lang="en-GB">
                <a:solidFill>
                  <a:schemeClr val="dk1"/>
                </a:solidFill>
              </a:rPr>
              <a:t>question-only, transcript-only, and audiovisual</a:t>
            </a:r>
            <a:r>
              <a:rPr lang="en-GB">
                <a:solidFill>
                  <a:schemeClr val="dk1"/>
                </a:solidFill>
              </a:rPr>
              <a:t> conditions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Inspect modality-necessary examples and decide whether existing annotations are sufficient</a:t>
            </a:r>
            <a:endParaRPr>
              <a:solidFill>
                <a:schemeClr val="dk1"/>
              </a:solidFill>
            </a:endParaRPr>
          </a:p>
          <a:p>
            <a:pPr indent="-342900" lvl="0" marL="457200" rtl="0" algn="l">
              <a:spcBef>
                <a:spcPts val="0"/>
              </a:spcBef>
              <a:spcAft>
                <a:spcPts val="0"/>
              </a:spcAft>
              <a:buClr>
                <a:schemeClr val="dk1"/>
              </a:buClr>
              <a:buSzPts val="1800"/>
              <a:buChar char="●"/>
            </a:pPr>
            <a:r>
              <a:rPr b="1" lang="en-GB">
                <a:solidFill>
                  <a:schemeClr val="dk1"/>
                </a:solidFill>
              </a:rPr>
              <a:t>AI Opinion:</a:t>
            </a:r>
            <a:r>
              <a:rPr lang="en-GB">
                <a:solidFill>
                  <a:schemeClr val="dk1"/>
                </a:solidFill>
              </a:rPr>
              <a:t> decide the paper direction after this meeting</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Create the first ~20 prototype items and implement the evaluation format</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Are AI policies presented in literature</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Refine related-work positioning around pluralistic alignment, public specifications, and existing personalization benchmarks</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
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Andrea Bellucci"/>
  <p:cmAuthor clrIdx="1" id="1" initials="" lastIdx="1" name="Sergei Smirnov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12A0D2-69F1-4B32-AE52-B711DEA5D5C5}">
  <a:tblStyle styleId="{B612A0D2-69F1-4B32-AE52-B711DEA5D5C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fill>
          <a:solidFill>
            <a:srgbClr val="CDD8FB"/>
          </a:solidFill>
        </a:fill>
      </a:tcStyle>
    </a:band1H>
    <a:band2H>
      <a:tcTxStyle/>
    </a:band2H>
    <a:band1V>
      <a:tcTxStyle/>
      <a:tcStyle>
        <a:fill>
          <a:solidFill>
            <a:srgbClr val="CDD8FB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9001EC6A-37D8-4FED-805E-9C78D320CE6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AI Alignment paper: summary of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19.10.2026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The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An illustration of epistemic humility, not a theory-of-mind test.</a:t>
            </a:r>
          </a:p>
          <a:p>
            <a:pPr lvl="1"/>
            <a:r>
              <a:rPr>
                <a:solidFill>
                  <a:schemeClr val="dk1"/>
                </a:solidFill>
              </a:rPr>
              <a:t>C1: models are miscalibrated in emotion attribution.</a:t>
            </a:r>
          </a:p>
          <a:p>
            <a:pPr lvl="1"/>
            <a:r>
              <a:rPr>
                <a:solidFill>
                  <a:schemeClr val="dk1"/>
                </a:solidFill>
              </a:rPr>
              <a:t>C2: models may not register that the evidence they need is missing.</a:t>
            </a:r>
          </a:p>
          <a:p>
            <a:pPr/>
            <a:r>
              <a:rPr>
                <a:solidFill>
                  <a:schemeClr val="dk1"/>
                </a:solidFill>
              </a:rPr>
              <a:t>Qwen2.5-Omni-7B, 598 MoMentS emotion questions, six conditions:</a:t>
            </a:r>
          </a:p>
          <a:p>
            <a:pPr lvl="1"/>
            <a:r>
              <a:rPr>
                <a:solidFill>
                  <a:schemeClr val="dk1"/>
                </a:solidFill>
              </a:rPr>
              <a:t>question only (with and without "Cannot tell"), + transcript, + "a video exists",</a:t>
            </a:r>
          </a:p>
          <a:p>
            <a:pPr lvl="1"/>
            <a:r>
              <a:rPr>
                <a:solidFill>
                  <a:schemeClr val="dk1"/>
                </a:solidFill>
              </a:rPr>
              <a:t>+ 64 silent frames of the clip, + frames from another film.</a:t>
            </a:r>
          </a:p>
          <a:p>
            <a:pPr/>
            <a:r>
              <a:rPr>
                <a:solidFill>
                  <a:schemeClr val="dk1"/>
                </a:solidFill>
              </a:rPr>
              <a:t>After each answer: a one-sentence explanation and "what did you base it on?".</a:t>
            </a:r>
          </a:p>
          <a:p>
            <a:pPr/>
            <a:r>
              <a:rPr>
                <a:solidFill>
                  <a:schemeClr val="dk1"/>
                </a:solidFill>
              </a:rPr>
              <a:t>Explanations coded by two LLM judges (Claude Haiku 5.5, GPT-6 Luna).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Key results (598 questions)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10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Q: question only. T: + transcript. T_told: + "a video exists".</a:t>
            </a:r>
          </a:p>
          <a:p>
            <a:pPr/>
            <a:r>
              <a:rPr>
                <a:solidFill>
                  <a:schemeClr val="dk1"/>
                </a:solidFill>
              </a:rPr>
              <a:t>VT: + video. VTmis: + another film's video.</a:t>
            </a:r>
          </a:p>
          <a:p>
            <a:pPr/>
            <a:r>
              <a:rPr>
                <a:solidFill>
                  <a:schemeClr val="dk1"/>
                </a:solidFill>
              </a:rPr>
              <a:t>Without "Cannot tell" (Q_noE): 16.6% confidently wrong, the most.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2332475"/>
          <a:ext cx="8520600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100"/>
                <a:gridCol w="1420100"/>
                <a:gridCol w="1420100"/>
                <a:gridCol w="1420100"/>
                <a:gridCol w="1420100"/>
                <a:gridCol w="1420100"/>
              </a:tblGrid>
              <a:tr h="3733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T_told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VTmis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400"/>
                        <a:t>Abstained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41.6%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400"/>
                        <a:t>Best A-D answer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52.5%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400"/>
                        <a:t>Confidently wrong (&gt;= 0.8)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15.1%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Behavior tracks evidence; confidence does not (C1)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Abstention falls with each piece of evidence (62% to 47% to 29%) and rises again with the wrong film's video (42%).</a:t>
            </a:r>
          </a:p>
          <a:p>
            <a:pPr/>
            <a:r>
              <a:rPr>
                <a:solidFill>
                  <a:schemeClr val="dk1"/>
                </a:solidFill>
              </a:rPr>
              <a:t>But the video changes whether the model answers, not how well.</a:t>
            </a:r>
          </a:p>
          <a:p>
            <a:pPr lvl="1"/>
            <a:r>
              <a:rPr>
                <a:solidFill>
                  <a:schemeClr val="dk1"/>
                </a:solidFill>
              </a:rPr>
              <a:t>Best A-D answer right: 54.7% (T), 56.2% (VT), 52.5% (VTmis).</a:t>
            </a:r>
          </a:p>
          <a:p>
            <a:pPr lvl="1"/>
            <a:r>
              <a:rPr>
                <a:solidFill>
                  <a:schemeClr val="dk1"/>
                </a:solidFill>
              </a:rPr>
              <a:t>The extra answers are about half right: 69 abstentions become right, 58 wrong.</a:t>
            </a:r>
          </a:p>
          <a:p>
            <a:pPr/>
            <a:r>
              <a:rPr>
                <a:solidFill>
                  <a:schemeClr val="dk1"/>
                </a:solidFill>
              </a:rPr>
              <a:t>Confidently wrong is highest with a video, most with the wrong film's (15.1%).</a:t>
            </a:r>
          </a:p>
          <a:p>
            <a:pPr/>
            <a:r>
              <a:rPr>
                <a:solidFill>
                  <a:schemeClr val="dk1"/>
                </a:solidFill>
              </a:rPr>
              <a:t>Told a video is missing (T_told): abstention back to 61.9%, but nearly across the board.</a:t>
            </a:r>
          </a:p>
          <a:p>
            <a:pPr lvl="1"/>
            <a:r>
              <a:rPr>
                <a:solidFill>
                  <a:schemeClr val="dk1"/>
                </a:solidFill>
              </a:rPr>
              <a:t>P("Cannot tell") +0.14 where the video mattered, +0.11 where it did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Self-report does not track the evidence (C2)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Rarely says it used the video: 6.5% when it had one, though its behavior depends on it.</a:t>
            </a:r>
          </a:p>
          <a:p>
            <a:pPr/>
            <a:r>
              <a:rPr>
                <a:solidFill>
                  <a:schemeClr val="dk1"/>
                </a:solidFill>
              </a:rPr>
              <a:t>Claims evidence it never had:</a:t>
            </a:r>
          </a:p>
          <a:p>
            <a:pPr lvl="1"/>
            <a:r>
              <a:rPr>
                <a:solidFill>
                  <a:schemeClr val="dk1"/>
                </a:solidFill>
              </a:rPr>
              <a:t>a transcript in 36% with none; things seen in 6.9% of explanations with no video;</a:t>
            </a:r>
          </a:p>
          <a:p>
            <a:pPr lvl="1"/>
            <a:r>
              <a:rPr>
                <a:solidFill>
                  <a:schemeClr val="dk1"/>
                </a:solidFill>
              </a:rPr>
              <a:t>"the audio" in 20 explanations, though it never gets audio (keyword search).</a:t>
            </a:r>
          </a:p>
          <a:p>
            <a:pPr/>
            <a:r>
              <a:rPr>
                <a:solidFill>
                  <a:schemeClr val="dk1"/>
                </a:solidFill>
              </a:rPr>
              <a:t>The wrong video goes unnoticed: cites things seen about as often as with the right one (15.2% vs 16.4%).</a:t>
            </a:r>
          </a:p>
          <a:p>
            <a:pPr lvl="1"/>
            <a:r>
              <a:rPr>
                <a:solidFill>
                  <a:schemeClr val="dk1"/>
                </a:solidFill>
              </a:rPr>
              <a:t>No explanation notices a mismatch (none flagged by both judges).</a:t>
            </a:r>
          </a:p>
          <a:p>
            <a:pPr/>
            <a:r>
              <a:rPr>
                <a:solidFill>
                  <a:schemeClr val="dk1"/>
                </a:solidFill>
              </a:rPr>
              <a:t>Told a video exists, only 7.9% of its explanations name the missing video.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Takeaway and caveats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Epistemic humility needs both: behavior that tracks the evidence, and an accurate account of what evidence was there.</a:t>
            </a:r>
          </a:p>
          <a:p>
            <a:pPr/>
            <a:r>
              <a:rPr>
                <a:solidFill>
                  <a:schemeClr val="dk1"/>
                </a:solidFill>
              </a:rPr>
              <a:t>Qwen partly has the first and largely lacks the second.</a:t>
            </a:r>
          </a:p>
          <a:p>
            <a:pPr/>
            <a:r>
              <a:rPr>
                <a:solidFill>
                  <a:schemeClr val="dk1"/>
                </a:solidFill>
              </a:rPr>
              <a:t>So aligned emotion attribution needs models that know what evidence a judgement needs, not only higher accuracy.</a:t>
            </a:r>
          </a:p>
          <a:p>
            <a:pPr/>
            <a:r>
              <a:rPr>
                <a:solidFill>
                  <a:schemeClr val="dk1"/>
                </a:solidFill>
              </a:rPr>
              <a:t>Caveats:</a:t>
            </a:r>
          </a:p>
          <a:p>
            <a:pPr lvl="1"/>
            <a:r>
              <a:rPr>
                <a:solidFill>
                  <a:schemeClr val="dk1"/>
                </a:solidFill>
              </a:rPr>
              <a:t>One model, silent frames (no audio); explanations come after the answer (self-report).</a:t>
            </a:r>
          </a:p>
          <a:p>
            <a:pPr lvl="1"/>
            <a:r>
              <a:rPr>
                <a:solidFill>
                  <a:schemeClr val="dk1"/>
                </a:solidFill>
              </a:rPr>
              <a:t>Explanation codes are LLM-judge labels (two judges, kappa 0.79-0.98), not hand-checked.</a:t>
            </a:r>
          </a:p>
          <a:p>
            <a:pPr lvl="1"/>
            <a:r>
              <a:rPr>
                <a:solidFill>
                  <a:schemeClr val="dk1"/>
                </a:solidFill>
              </a:rPr>
              <a:t>MoMentS tags are optional, so subgroup results are exploratory.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
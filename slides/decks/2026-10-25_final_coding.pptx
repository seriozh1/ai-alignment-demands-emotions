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12A0D2-69F1-4B32-AE52-B711DEA5D5C5}">
  <a:tblStyle styleId="{B612A0D2-69F1-4B32-AE52-B711DEA5D5C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001EC6A-37D8-4FED-805E-9C78D320CE6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final explanation 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25.10.2026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 coding: one revision, final run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Revision after the first full run: speech that only repeats the question or options is not dialogue.</a:t>
            </a:r>
          </a:p>
          <a:p>
            <a:pPr lvl="1"/>
            <a:r>
              <a:rPr>
                <a:solidFill>
                  <a:schemeClr val="dk1"/>
                </a:solidFill>
              </a:rPr>
              <a:t>The same rule cites_visual already had; one new invented example in the prompt.</a:t>
            </a:r>
          </a:p>
          <a:p>
            <a:pPr lvl="1"/>
            <a:r>
              <a:rPr>
                <a:solidFill>
                  <a:schemeClr val="dk1"/>
                </a:solidFill>
              </a:rPr>
              <a:t>Before, dialogue copied from the question counted as citing a transcript.</a:t>
            </a:r>
          </a:p>
          <a:p>
            <a:pPr/>
            <a:r>
              <a:rPr>
                <a:solidFill>
                  <a:schemeClr val="dk1"/>
                </a:solidFill>
              </a:rPr>
              <a:t>Both judges rerun on all 3,588 explanations (about $1.90, 1 h).</a:t>
            </a:r>
          </a:p>
          <a:p>
            <a:pPr/>
            <a:r>
              <a:rPr>
                <a:solidFill>
                  <a:schemeClr val="dk1"/>
                </a:solidFill>
              </a:rPr>
              <a:t>Dialogue codes without a transcript: Q_noE 4.5% to 0.5%, Q 2.5% to 0.2%; other codes barely change.</a:t>
            </a:r>
          </a:p>
          <a:p>
            <a:pPr/>
            <a:r>
              <a:rPr>
                <a:solidFill>
                  <a:schemeClr val="dk1"/>
                </a:solidFill>
              </a:rPr>
              <a:t>No hand-check for now: reliability = agreement between two judges from different providers.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Final: the two judges agree closely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6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274 of 3,588 explanations (7.6%) have at least one disagreement.</a:t>
            </a:r>
          </a:p>
          <a:p>
            <a:pPr/>
            <a:r>
              <a:rPr>
                <a:solidFill>
                  <a:schemeClr val="dk1"/>
                </a:solidFill>
              </a:rPr>
              <a:t>notices_mismatch: too rare for kappa; never flagged by both judges.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882475"/>
          <a:ext cx="8520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20"/>
                <a:gridCol w="1704120"/>
                <a:gridCol w="1704120"/>
                <a:gridCol w="1704120"/>
                <a:gridCol w="1704120"/>
              </a:tblGrid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Haiku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Luna yes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930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says_insufficient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names_missing_visual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notices_mismatch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Final: what explanations claim (% both judges yes)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598 explanations per condition; notebook 07, codes_by_condition.csv.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632475"/>
          <a:ext cx="8520600" cy="2053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</a:tblGrid>
              <a:tr h="293370">
                <a:tc>
                  <a:txBody>
                    <a:bodyPr/>
                    <a:lstStyle/>
                    <a:p>
                      <a:r>
                        <a:rPr sz="11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It had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Missing 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Judges differ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Q_noE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3.3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5.5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9.9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9.9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9.0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VTmis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both, other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Final result: the wrong video goes unnoticed (C2)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Wrong film's video: cites things seen about as often as with the right one (15.2% vs 16.4%).</a:t>
            </a:r>
          </a:p>
          <a:p>
            <a:pPr/>
            <a:r>
              <a:rPr>
                <a:solidFill>
                  <a:schemeClr val="dk1"/>
                </a:solidFill>
              </a:rPr>
              <a:t>No explanation notices a mismatch (none flagged by both judges; one judge flags 4, none about the film).</a:t>
            </a:r>
          </a:p>
          <a:p>
            <a:pPr/>
            <a:r>
              <a:rPr>
                <a:solidFill>
                  <a:schemeClr val="dk1"/>
                </a:solidFill>
              </a:rPr>
              <a:t>No video at all (Q_noE): 6.9% cite things seen.</a:t>
            </a:r>
          </a:p>
          <a:p>
            <a:pPr lvl="1"/>
            <a:r>
              <a:rPr>
                <a:solidFill>
                  <a:schemeClr val="dk1"/>
                </a:solidFill>
              </a:rPr>
              <a:t>"... feeling disapproving and fearful based on his facial expression and body language."</a:t>
            </a:r>
          </a:p>
          <a:p>
            <a:pPr/>
            <a:r>
              <a:rPr>
                <a:solidFill>
                  <a:schemeClr val="dk1"/>
                </a:solidFill>
              </a:rPr>
              <a:t>Claims audio, which the model never gets: 20 explanations without a transcript (keyword).</a:t>
            </a:r>
          </a:p>
          <a:p>
            <a:pPr/>
            <a:r>
              <a:rPr>
                <a:solidFill>
                  <a:schemeClr val="dk1"/>
                </a:solidFill>
              </a:rPr>
              <a:t>Told a video exists (T_told): 47.3% say information is insufficient, only 7.9% name the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Second model from another family: InternVL2.5-8B (InternLM2.5 language model).</a:t>
            </a:r>
          </a:p>
          <a:p>
            <a:pPr lvl="1"/>
            <a:r>
              <a:rPr>
                <a:solidFill>
                  <a:schemeClr val="dk1"/>
                </a:solidFill>
              </a:rPr>
              <a:t>The only non-Qwen open model evaluated in the MoMentS paper (T 46.0, VT 46.6).</a:t>
            </a:r>
          </a:p>
          <a:p>
            <a:pPr lvl="1"/>
            <a:r>
              <a:rPr>
                <a:solidFill>
                  <a:schemeClr val="dk1"/>
                </a:solidFill>
              </a:rPr>
              <a:t>Same conditions, prompts, frames and follow-ups (notebook 08); then the same judges.</a:t>
            </a:r>
          </a:p>
          <a:p>
            <a:pPr/>
            <a:r>
              <a:rPr>
                <a:solidFill>
                  <a:schemeClr val="dk1"/>
                </a:solidFill>
              </a:rPr>
              <a:t>Write the study section of the paper with these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
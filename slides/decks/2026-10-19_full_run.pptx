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1E6FA-B438-499F-9E2D-C03E5958D262}">
  <a:tblStyle styleId="{0BF1E6FA-B438-499F-9E2D-C03E5958D2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full run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19.10.2026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Since 05.10: what changed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Framing settled: the study illustrates epistemic humility; it supports C1 (miscalibrated emotion attribution) and C2 (may not register that needed evidence is missing).</a:t>
            </a:r>
          </a:p>
          <a:p>
            <a:pPr/>
            <a:r>
              <a:rPr>
                <a:solidFill>
                  <a:schemeClr val="dk1"/>
                </a:solidFill>
              </a:rPr>
              <a:t>All 598 emotion questions, on a GPU (NVIDIA L40S): 4.3 h for the whole run.</a:t>
            </a:r>
          </a:p>
          <a:p>
            <a:pPr/>
            <a:r>
              <a:rPr>
                <a:solidFill>
                  <a:schemeClr val="dk1"/>
                </a:solidFill>
              </a:rPr>
              <a:t>Frames at the videos' native resolution (640x360 or 854x480), not 448x252.</a:t>
            </a:r>
          </a:p>
          <a:p>
            <a:pPr/>
            <a:r>
              <a:rPr>
                <a:solidFill>
                  <a:schemeClr val="dk1"/>
                </a:solidFill>
              </a:rPr>
              <a:t>Options in a random order per question, the same in every condition (position-bias control).</a:t>
            </a:r>
          </a:p>
          <a:p>
            <a:pPr/>
            <a:r>
              <a:rPr>
                <a:solidFill>
                  <a:schemeClr val="dk1"/>
                </a:solidFill>
              </a:rPr>
              <a:t>New condition T_told: the model is told a video exists but is not shown.</a:t>
            </a:r>
          </a:p>
          <a:p>
            <a:pPr/>
            <a:r>
              <a:rPr>
                <a:solidFill>
                  <a:schemeClr val="dk1"/>
                </a:solidFill>
              </a:rPr>
              <a:t>Two separate follow-up questions after the answer, instead of "why?".</a:t>
            </a:r>
          </a:p>
          <a:p>
            <a:pPr/>
            <a:r>
              <a:rPr>
                <a:solidFill>
                  <a:schemeClr val="dk1"/>
                </a:solidFill>
              </a:rPr>
              <a:t>No system prompt of our own: the chat template's default "You are a helpful assistant."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Setup: six conditions, two follow-up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Q_noE: question + options A-D. Q: + "Cannot tell from the given information."</a:t>
            </a:r>
          </a:p>
          <a:p>
            <a:pPr/>
            <a:r>
              <a:rPr>
                <a:solidFill>
                  <a:schemeClr val="dk1"/>
                </a:solidFill>
              </a:rPr>
              <a:t>T: + transcript. T_told: "A video of this scene exists, but it is not shown to you." + T.</a:t>
            </a:r>
          </a:p>
          <a:p>
            <a:pPr/>
            <a:r>
              <a:rPr>
                <a:solidFill>
                  <a:schemeClr val="dk1"/>
                </a:solidFill>
              </a:rPr>
              <a:t>VT: T + 64 silent frames of the clip (48-62 for a few very short clips). VTmis: same, from a different film.</a:t>
            </a:r>
          </a:p>
          <a:p>
            <a:pPr/>
            <a:r>
              <a:rPr>
                <a:solidFill>
                  <a:schemeClr val="dk1"/>
                </a:solidFill>
              </a:rPr>
              <a:t>Answer = the most likely next letter; abstain = "Cannot tell" on top.</a:t>
            </a:r>
          </a:p>
          <a:p>
            <a:pPr/>
            <a:r>
              <a:rPr>
                <a:solidFill>
                  <a:schemeClr val="dk1"/>
                </a:solidFill>
              </a:rPr>
              <a:t>Two follow-ups, each from the same chat (prompt + answer), neither sees the other:</a:t>
            </a:r>
          </a:p>
          <a:p>
            <a:pPr lvl="1"/>
            <a:r>
              <a:rPr>
                <a:solidFill>
                  <a:schemeClr val="dk1"/>
                </a:solidFill>
              </a:rPr>
              <a:t>A, free-form: "Explain in one sentence which information you based your answer on."</a:t>
            </a:r>
          </a:p>
          <a:p>
            <a:pPr lvl="1"/>
            <a:r>
              <a:rPr>
                <a:solidFill>
                  <a:schemeClr val="dk1"/>
                </a:solidFill>
              </a:rPr>
              <a:t>B: "Besides the question and its options, what did you base your answer on?" Nothing else / A transcript / A video / Both; scored like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Main results (598 questions)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Best A-D right: the best of A-D, ignoring "Cannot tell".</a:t>
            </a:r>
          </a:p>
          <a:p>
            <a:pPr/>
            <a:r>
              <a:rPr>
                <a:solidFill>
                  <a:schemeClr val="dk1"/>
                </a:solidFill>
              </a:rPr>
              <a:t>Confidently wrong: a wrong A-D answer with confidence &gt;= 0.8.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982475"/>
          <a:ext cx="8520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20"/>
                <a:gridCol w="1704120"/>
                <a:gridCol w="1704120"/>
                <a:gridCol w="1704120"/>
                <a:gridCol w="1704120"/>
              </a:tblGrid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Abstained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Best A-D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Confidently wrong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Q_noE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16.6%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61.7% [57.7, 65.5]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47.5% [43.5, 51.5]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61.9% [57.9, 65.7]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29.4% [25.9, 33.2]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13.9%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VTmis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41.6% [37.8, 45.6]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abstention follows the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Abstained: Q 62%, T 47%, VT 29%; with the wrong video back to 42%.</a:t>
            </a:r>
          </a:p>
          <a:p>
            <a:pPr/>
            <a:r>
              <a:rPr>
                <a:solidFill>
                  <a:schemeClr val="dk1"/>
                </a:solidFill>
              </a:rPr>
              <a:t>Each step p &lt; 0.001 (McNemar); wrong video: 101 start abstaining, 28 stop.</a:t>
            </a:r>
          </a:p>
        </p:txBody>
      </p:sp>
      <p:pic>
        <p:nvPicPr>
          <p:cNvPr id="4" name="Picture 3" descr="abstention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6" y="2002475"/>
            <a:ext cx="7912208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the video changes whether, not what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Best A-D answer right: T 54.7%, VT 56.2%, VTmis 52.5%: about equal.</a:t>
            </a:r>
          </a:p>
          <a:p>
            <a:pPr/>
            <a:r>
              <a:rPr>
                <a:solidFill>
                  <a:schemeClr val="dk1"/>
                </a:solidFill>
              </a:rPr>
              <a:t>VT's higher accuracy (32% to 42%) comes from answering more often.</a:t>
            </a:r>
          </a:p>
        </p:txBody>
      </p:sp>
      <p:pic>
        <p:nvPicPr>
          <p:cNvPr id="4" name="Picture 3" descr="outcomes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6" y="2002475"/>
            <a:ext cx="7912208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where the answers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 to VT: 69 abstentions become right answers, but 58 become wrong.</a:t>
            </a:r>
          </a:p>
          <a:p>
            <a:pPr/>
            <a:r>
              <a:rPr>
                <a:solidFill>
                  <a:schemeClr val="dk1"/>
                </a:solidFill>
              </a:rPr>
              <a:t>Wrong video: 101 answers turn into abstentions, 17 right turn wrong.</a:t>
            </a:r>
          </a:p>
        </p:txBody>
      </p:sp>
      <p:pic>
        <p:nvPicPr>
          <p:cNvPr id="4" name="Picture 3" descr="outcome_tran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002475"/>
            <a:ext cx="8520600" cy="2556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question by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P("Cannot tell") with the video: lower for 426 questions, higher for 124.</a:t>
            </a:r>
          </a:p>
          <a:p>
            <a:pPr/>
            <a:r>
              <a:rPr>
                <a:solidFill>
                  <a:schemeClr val="dk1"/>
                </a:solidFill>
              </a:rPr>
              <a:t>With the wrong video instead: higher for 365, lower for 145 (change &gt; 0.01).</a:t>
            </a:r>
          </a:p>
        </p:txBody>
      </p:sp>
      <p:pic>
        <p:nvPicPr>
          <p:cNvPr id="4" name="Picture 3" descr="p_E_per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75" y="2002475"/>
            <a:ext cx="6042050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told that a video exists (T_told)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Abstention rises from 47.5% (T) to 61.9%: 87 questions start abstaining, 1 stops (p &lt; 0.001).</a:t>
            </a:r>
          </a:p>
          <a:p>
            <a:pPr/>
            <a:r>
              <a:rPr>
                <a:solidFill>
                  <a:schemeClr val="dk1"/>
                </a:solidFill>
              </a:rPr>
              <a:t>That is back to the question-only level, so the model acts on missing evidence when told about it.</a:t>
            </a:r>
          </a:p>
          <a:p>
            <a:pPr/>
            <a:r>
              <a:rPr>
                <a:solidFill>
                  <a:schemeClr val="dk1"/>
                </a:solidFill>
              </a:rPr>
              <a:t>Mostly across the board: P("Cannot tell") rises +0.14 where the video mattered (VT answer differs from T) vs +0.11 where it did not (p &lt; 0.001).</a:t>
            </a:r>
          </a:p>
          <a:p>
            <a:pPr lvl="1"/>
            <a:r>
              <a:rPr>
                <a:solidFill>
                  <a:schemeClr val="dk1"/>
                </a:solidFill>
              </a:rPr>
              <a:t>46 right and 41 wrong answers turn into abstentions (24% of T's right answers, 34% of its wrong ones).</a:t>
            </a:r>
          </a:p>
          <a:p>
            <a:pPr/>
            <a:r>
              <a:rPr>
                <a:solidFill>
                  <a:schemeClr val="dk1"/>
                </a:solidFill>
              </a:rPr>
              <a:t>Only 7.5% of T_told explanations mention the video (11% of its abstentions).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what the model says it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With its own video it claims a video in 6.5% (VT); with none, 9.2% (Q_noE).</a:t>
            </a:r>
          </a:p>
          <a:p>
            <a:pPr/>
            <a:r>
              <a:rPr>
                <a:solidFill>
                  <a:schemeClr val="dk1"/>
                </a:solidFill>
              </a:rPr>
              <a:t>With no transcript at all (Q_noE), it claims one in 36%.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982475"/>
          <a:ext cx="8520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100"/>
                <a:gridCol w="1420100"/>
                <a:gridCol w="1420100"/>
                <a:gridCol w="1420100"/>
                <a:gridCol w="1420100"/>
                <a:gridCol w="1420100"/>
              </a:tblGrid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It had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Nothing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Both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Q_noE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1.2%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4.7%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VTmis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Explanations: first look (keyword screens)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Visual words: Q_noE 13%, T 9%, VT 19%, VTmis 15% (wrong film's video).</a:t>
            </a:r>
          </a:p>
          <a:p>
            <a:pPr/>
            <a:r>
              <a:rPr>
                <a:solidFill>
                  <a:schemeClr val="dk1"/>
                </a:solidFill>
              </a:rPr>
              <a:t>VT: "The woman's smile suggests she is happy"; evidence answer: transcript.</a:t>
            </a:r>
          </a:p>
          <a:p>
            <a:pPr/>
            <a:r>
              <a:rPr>
                <a:solidFill>
                  <a:schemeClr val="dk1"/>
                </a:solidFill>
              </a:rPr>
              <a:t>VTmis: "looking at the drawing with a neutral expression" (wrong film).</a:t>
            </a:r>
          </a:p>
        </p:txBody>
      </p:sp>
      <p:pic>
        <p:nvPicPr>
          <p:cNvPr id="4" name="Picture 3" descr="explanation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52475"/>
            <a:ext cx="8520600" cy="2434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Option 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Abstention does not depend on the letter "Cannot tell" is shown as (chi-square p = 0.18-0.98 per condition).</a:t>
            </a:r>
          </a:p>
          <a:p>
            <a:pPr/>
            <a:r>
              <a:rPr>
                <a:solidFill>
                  <a:schemeClr val="dk1"/>
                </a:solidFill>
              </a:rPr>
              <a:t>Without "Cannot tell" (Q_noE), earlier letters are chosen more: A 29%, B 27%, C 24%, D 20% (p = 0.008).</a:t>
            </a:r>
          </a:p>
          <a:p>
            <a:pPr/>
            <a:r>
              <a:rPr>
                <a:solidFill>
                  <a:schemeClr val="dk1"/>
                </a:solidFill>
              </a:rPr>
              <a:t>Shuffling the options per question spreads this evenly over the answers.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subgroups (exploratory)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Visual-cue tag: similar pattern in both groups; tags were optional.</a:t>
            </a:r>
          </a:p>
          <a:p>
            <a:pPr/>
            <a:r>
              <a:rPr>
                <a:solidFill>
                  <a:schemeClr val="dk1"/>
                </a:solidFill>
              </a:rPr>
              <a:t>No dialogue (n = 74): T 77%, T_told 99%, VT 32%, VTmis 68% abstained.</a:t>
            </a:r>
          </a:p>
        </p:txBody>
      </p:sp>
      <p:pic>
        <p:nvPicPr>
          <p:cNvPr id="4" name="Picture 3" descr="abstention_sub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20" y="2002475"/>
            <a:ext cx="8239159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Takeaways and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Behavior tracks the evidence: abstention falls with the video and rises again with a video from another film.</a:t>
            </a:r>
          </a:p>
          <a:p>
            <a:pPr/>
            <a:r>
              <a:rPr>
                <a:solidFill>
                  <a:schemeClr val="dk1"/>
                </a:solidFill>
              </a:rPr>
              <a:t>But the video changes whether the model answers, not how well; and the extra answers are only about half right.</a:t>
            </a:r>
          </a:p>
          <a:p>
            <a:pPr/>
            <a:r>
              <a:rPr>
                <a:solidFill>
                  <a:schemeClr val="dk1"/>
                </a:solidFill>
              </a:rPr>
              <a:t>Self-report does not register the video: the model almost never says it used it, and sometimes describes the wrong film's video as evidence (C2).</a:t>
            </a:r>
          </a:p>
          <a:p>
            <a:pPr/>
            <a:r>
              <a:rPr>
                <a:solidFill>
                  <a:schemeClr val="dk1"/>
                </a:solidFill>
              </a:rPr>
              <a:t>Told that a video is missing, it abstains more, but mostly across the board: only slightly more where the video matters.</a:t>
            </a:r>
          </a:p>
          <a:p>
            <a:pPr/>
            <a:r>
              <a:rPr>
                <a:solidFill>
                  <a:schemeClr val="dk1"/>
                </a:solidFill>
              </a:rPr>
              <a:t>Limitations: one model, no audio, 64 frames; explanations are self-report after the answer; explanation numbers are keyword screens until coded; visual-cue tags optional.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Code the explanations: six yes/no codes, Claude Haiku as judge on all 3,588 (under $1), 60 hand-checked blind for agreement.</a:t>
            </a:r>
          </a:p>
          <a:p>
            <a:pPr/>
            <a:r>
              <a:rPr>
                <a:solidFill>
                  <a:schemeClr val="dk1"/>
                </a:solidFill>
              </a:rPr>
              <a:t>More models: another audiovisual model, plus a larger one through an API.</a:t>
            </a:r>
          </a:p>
          <a:p>
            <a:pPr/>
            <a:r>
              <a:rPr>
                <a:solidFill>
                  <a:schemeClr val="dk1"/>
                </a:solidFill>
              </a:rPr>
              <a:t>Write the study section of the paper; update Andrea on the full-run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
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ndrea Bellucci"/>
  <p:cmAuthor clrIdx="1" id="1" initials="" lastIdx="1" name="Sergei Smirno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12A0D2-69F1-4B32-AE52-B711DEA5D5C5}">
  <a:tblStyle styleId="{B612A0D2-69F1-4B32-AE52-B711DEA5D5C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001EC6A-37D8-4FED-805E-9C78D320CE6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AI Alignment paper: second model (InternVL2.5-8B)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25.10.2026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Second model: InternVL2.5-8B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The only non-Qwen open model evaluated in the MoMentS paper (InternLM2.5 language model, InternViT vision).</a:t>
            </a:r>
          </a:p>
          <a:p>
            <a:pPr lvl="1"/>
            <a:r>
              <a:rPr>
                <a:solidFill>
                  <a:schemeClr val="dk1"/>
                </a:solidFill>
              </a:rPr>
              <a:t>Release used: OpenGVLab/InternVL2_5-8B-MPO-hf (runs natively in transformers).</a:t>
            </a:r>
          </a:p>
          <a:p>
            <a:pPr/>
            <a:r>
              <a:rPr>
                <a:solidFill>
                  <a:schemeClr val="dk1"/>
                </a:solidFill>
              </a:rPr>
              <a:t>Same as Qwen: 598 questions, six conditions, prompts, option orders, 64 frames, both follow-up questions.</a:t>
            </a:r>
          </a:p>
          <a:p>
            <a:pPr lvl="1"/>
            <a:r>
              <a:rPr>
                <a:solidFill>
                  <a:schemeClr val="dk1"/>
                </a:solidFill>
              </a:rPr>
              <a:t>Each frame is one 448x448 image; letter probabilities sum to 1.0 in every condition.</a:t>
            </a:r>
          </a:p>
          <a:p>
            <a:pPr/>
            <a:r>
              <a:rPr>
                <a:solidFill>
                  <a:schemeClr val="dk1"/>
                </a:solidFill>
              </a:rPr>
              <a:t>Explanations coded by the same two judges, same prompt (notebook 09).</a:t>
            </a:r>
          </a:p>
          <a:p>
            <a:pPr lvl="1"/>
            <a:r>
              <a:rPr>
                <a:solidFill>
                  <a:schemeClr val="dk1"/>
                </a:solidFill>
              </a:rPr>
              <a:t>Agreement: kappa 0.87 dialogue, 0.85 visual, 0.99 insufficient, 0.73 missing visual.</a:t>
            </a:r>
          </a:p>
          <a:p>
            <a:pPr/>
            <a:r>
              <a:rPr>
                <a:solidFill>
                  <a:schemeClr val="dk1"/>
                </a:solidFill>
              </a:rPr>
              <a:t>Comparison in notebook 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Both models, 598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Q_noE (no "Cannot tell"): confidently wrong 16.6% Qwen, 15.2% InternVL.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682475"/>
          <a:ext cx="8520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228"/>
                <a:gridCol w="1217228"/>
                <a:gridCol w="1217228"/>
                <a:gridCol w="1217228"/>
                <a:gridCol w="1217228"/>
                <a:gridCol w="1217228"/>
                <a:gridCol w="1217232"/>
              </a:tblGrid>
              <a:tr h="3200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T_told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VTmis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Abstained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41.6%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InternVL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15.7%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Best A-D answer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52.5%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InternVL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49.0%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Confidently wrong (&gt;= 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15.1%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InternVL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Abstention: same pattern, except for the wrong video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Both abstain less with more evidence, more when told a video exists.</a:t>
            </a:r>
          </a:p>
          <a:p>
            <a:pPr/>
            <a:r>
              <a:rPr>
                <a:solidFill>
                  <a:schemeClr val="dk1"/>
                </a:solidFill>
              </a:rPr>
              <a:t>Wrong video: Qwen 29% to 42% (p &lt; 0.001), InternVL 14% to 16% (p = 0.22).</a:t>
            </a:r>
          </a:p>
        </p:txBody>
      </p:sp>
      <p:pic>
        <p:nvPicPr>
          <p:cNvPr id="4" name="Picture 3" descr="abstention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87" y="2002475"/>
            <a:ext cx="6473625" cy="3021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InternVL: the wrong video hurts, unnoticed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Best A-D answer right: 56.4% with the right video, 49.0% with the wrong one (81 lost, 37 gained, p &lt; 0.001).</a:t>
            </a:r>
          </a:p>
          <a:p>
            <a:pPr lvl="1"/>
            <a:r>
              <a:rPr>
                <a:solidFill>
                  <a:schemeClr val="dk1"/>
                </a:solidFill>
              </a:rPr>
              <a:t>Below the transcript alone (51.2%): the wrong video misleads it.</a:t>
            </a:r>
          </a:p>
          <a:p>
            <a:pPr/>
            <a:r>
              <a:rPr>
                <a:solidFill>
                  <a:schemeClr val="dk1"/>
                </a:solidFill>
              </a:rPr>
              <a:t>Yet it abstains only 2 points more, and still says it used a video in 48%.</a:t>
            </a:r>
          </a:p>
          <a:p>
            <a:pPr/>
            <a:r>
              <a:rPr>
                <a:solidFill>
                  <a:schemeClr val="dk1"/>
                </a:solidFill>
              </a:rPr>
              <a:t>Qwen: smaller loss (56.2% to 52.5%, p = 0.04), but abstains 12 points more.</a:t>
            </a:r>
          </a:p>
          <a:p>
            <a:pPr/>
            <a:r>
              <a:rPr>
                <a:solidFill>
                  <a:schemeClr val="dk1"/>
                </a:solidFill>
              </a:rPr>
              <a:t>Neither model's explanations notice a wrong video (0 of 598 each, both judges).</a:t>
            </a:r>
          </a:p>
          <a:p>
            <a:pPr lvl="1"/>
            <a:r>
              <a:rPr>
                <a:solidFill>
                  <a:schemeClr val="dk1"/>
                </a:solidFill>
              </a:rPr>
              <a:t>The one InternVL explanation flagged (right video) disputes the question's premise.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Self-report: a video, not its relevance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InternVL claims a video in 63% (right), 48% (wrong video), 14% (none).</a:t>
            </a:r>
          </a:p>
          <a:p>
            <a:pPr/>
            <a:r>
              <a:rPr>
                <a:solidFill>
                  <a:schemeClr val="dk1"/>
                </a:solidFill>
              </a:rPr>
              <a:t>Qwen rarely claims one; both cite things seen with the wrong video.</a:t>
            </a:r>
          </a:p>
        </p:txBody>
      </p:sp>
      <p:pic>
        <p:nvPicPr>
          <p:cNvPr id="4" name="Picture 3" descr="video_self_report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002475"/>
            <a:ext cx="8520600" cy="2752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Told a video exists (T_told): replicates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Both abstain more: Qwen 47.5% to 61.9% (87 start, 1 stops), InternVL 42.0% to 53.8% (72 start, 1 stops).</a:t>
            </a:r>
          </a:p>
          <a:p>
            <a:pPr/>
            <a:r>
              <a:rPr>
                <a:solidFill>
                  <a:schemeClr val="dk1"/>
                </a:solidFill>
              </a:rPr>
              <a:t>Mostly across the board: P("Cannot tell") rises only a little more where the video mattered.</a:t>
            </a:r>
          </a:p>
          <a:p>
            <a:pPr lvl="1"/>
            <a:r>
              <a:rPr>
                <a:solidFill>
                  <a:schemeClr val="dk1"/>
                </a:solidFill>
              </a:rPr>
              <a:t>Qwen +0.14 vs +0.11; InternVL +0.10 vs +0.07 (both p &lt; 0.001).</a:t>
            </a:r>
          </a:p>
          <a:p>
            <a:pPr/>
            <a:r>
              <a:rPr>
                <a:solidFill>
                  <a:schemeClr val="dk1"/>
                </a:solidFill>
              </a:rPr>
              <a:t>Explanations rarely name the missing video: Qwen 7.9%, InternVL 3.7%.</a:t>
            </a:r>
          </a:p>
          <a:p>
            <a:pPr/>
            <a:r>
              <a:rPr>
                <a:solidFill>
                  <a:schemeClr val="dk1"/>
                </a:solidFill>
              </a:rPr>
              <a:t>InternVL: 5 T_told explanations refer to "the audio", though no audio is ever given.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Replicates across model families:</a:t>
            </a:r>
          </a:p>
          <a:p>
            <a:pPr lvl="1"/>
            <a:r>
              <a:rPr>
                <a:solidFill>
                  <a:schemeClr val="dk1"/>
                </a:solidFill>
              </a:rPr>
              <a:t>abstention follows the evidence (C1); blanket caution when told evidence is missing;</a:t>
            </a:r>
          </a:p>
          <a:p>
            <a:pPr lvl="1"/>
            <a:r>
              <a:rPr>
                <a:solidFill>
                  <a:schemeClr val="dk1"/>
                </a:solidFill>
              </a:rPr>
              <a:t>no explanation notices a video from the wrong film (C2).</a:t>
            </a:r>
          </a:p>
          <a:p>
            <a:pPr/>
            <a:r>
              <a:rPr>
                <a:solidFill>
                  <a:schemeClr val="dk1"/>
                </a:solidFill>
              </a:rPr>
              <a:t>Differs: InternVL's abstention ignores the wrong video, though its accuracy drops.</a:t>
            </a:r>
          </a:p>
          <a:p>
            <a:pPr lvl="1"/>
            <a:r>
              <a:rPr>
                <a:solidFill>
                  <a:schemeClr val="dk1"/>
                </a:solidFill>
              </a:rPr>
              <a:t>It reports using a video often, but about as often for the wrong one: self-report tracks</a:t>
            </a:r>
          </a:p>
          <a:p>
            <a:pPr lvl="1"/>
            <a:r>
              <a:rPr>
                <a:solidFill>
                  <a:schemeClr val="dk1"/>
                </a:solidFill>
              </a:rPr>
              <a:t>whether a video is there, not whether it is relevant (C2).</a:t>
            </a:r>
          </a:p>
          <a:p>
            <a:pPr/>
            <a:r>
              <a:rPr>
                <a:solidFill>
                  <a:schemeClr val="dk1"/>
                </a:solidFill>
              </a:rPr>
              <a:t>Caveats: two 7-8B open models; explanation codes are LLM-judge labels (not hand-checked).</a:t>
            </a:r>
          </a:p>
          <a:p>
            <a:pPr/>
            <a:r>
              <a:rPr>
                <a:solidFill>
                  <a:schemeClr val="dk1"/>
                </a:solidFill>
              </a:rPr>
              <a:t>Next: write the study section of the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